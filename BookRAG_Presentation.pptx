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003"/>
    <p:restoredTop sz="94610"/>
  </p:normalViewPr>
  <p:slideViewPr>
    <p:cSldViewPr snapToGrid="0" snapToObjects="1">
      <p:cViewPr varScale="1">
        <p:scale>
          <a:sx n="159" d="100"/>
          <a:sy n="159" d="100"/>
        </p:scale>
        <p:origin x="184" y="3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320186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9.png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0"/>
            <a:ext cx="2286000" cy="5143500"/>
          </a:xfrm>
          <a:prstGeom prst="rect">
            <a:avLst/>
          </a:prstGeom>
          <a:solidFill>
            <a:srgbClr val="0D7377">
              <a:alpha val="18000"/>
            </a:srgbClr>
          </a:solidFill>
          <a:ln w="12700">
            <a:solidFill>
              <a:srgbClr val="0D7377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BookRAG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548640" y="205740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A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RAG Chatbot for Personal Finance Intelligence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548640" y="2697480"/>
            <a:ext cx="5029200" cy="0"/>
          </a:xfrm>
          <a:prstGeom prst="line">
            <a:avLst/>
          </a:prstGeom>
          <a:noFill/>
          <a:ln w="254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6" name="Text 4"/>
          <p:cNvSpPr/>
          <p:nvPr/>
        </p:nvSpPr>
        <p:spPr>
          <a:xfrm>
            <a:off x="548640" y="2852928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BA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Powered by LangGraph  ·  Qwen3.5 Models  ·  ChromaDB + BM25  ·  Streamlit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438912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7BA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Saad Faran |  Rapids AI Internship </a:t>
            </a:r>
            <a:endParaRPr lang="en-US" sz="10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0960" y="1645920"/>
            <a:ext cx="914400" cy="9144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3" name="Text 1"/>
          <p:cNvSpPr/>
          <p:nvPr/>
        </p:nvSpPr>
        <p:spPr>
          <a:xfrm>
            <a:off x="365760" y="73152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of Contents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20040" y="987552"/>
            <a:ext cx="8503920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508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5" name="Shape 3"/>
          <p:cNvSpPr/>
          <p:nvPr/>
        </p:nvSpPr>
        <p:spPr>
          <a:xfrm>
            <a:off x="320040" y="987552"/>
            <a:ext cx="502920" cy="34747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6" name="Text 4"/>
          <p:cNvSpPr/>
          <p:nvPr/>
        </p:nvSpPr>
        <p:spPr>
          <a:xfrm>
            <a:off x="320040" y="1024128"/>
            <a:ext cx="5029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932688" y="1024128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932688" y="1188720"/>
            <a:ext cx="5852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does RAG hallucinate — and why does that matter?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20040" y="1362456"/>
            <a:ext cx="8503920" cy="347472"/>
          </a:xfrm>
          <a:prstGeom prst="roundRect">
            <a:avLst>
              <a:gd name="adj" fmla="val 13158"/>
            </a:avLst>
          </a:prstGeom>
          <a:solidFill>
            <a:srgbClr val="E8F4F8"/>
          </a:solidFill>
          <a:ln w="508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0" name="Shape 8"/>
          <p:cNvSpPr/>
          <p:nvPr/>
        </p:nvSpPr>
        <p:spPr>
          <a:xfrm>
            <a:off x="320040" y="1362456"/>
            <a:ext cx="502920" cy="34747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1" name="Text 9"/>
          <p:cNvSpPr/>
          <p:nvPr/>
        </p:nvSpPr>
        <p:spPr>
          <a:xfrm>
            <a:off x="320040" y="1399032"/>
            <a:ext cx="5029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932688" y="1399032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Built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932688" y="1563624"/>
            <a:ext cx="5852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overview and goals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320040" y="1737360"/>
            <a:ext cx="8503920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508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5" name="Shape 13"/>
          <p:cNvSpPr/>
          <p:nvPr/>
        </p:nvSpPr>
        <p:spPr>
          <a:xfrm>
            <a:off x="320040" y="1737360"/>
            <a:ext cx="502920" cy="34747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6" name="Text 14"/>
          <p:cNvSpPr/>
          <p:nvPr/>
        </p:nvSpPr>
        <p:spPr>
          <a:xfrm>
            <a:off x="320040" y="1773936"/>
            <a:ext cx="5029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932688" y="1773936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Ingestion Pipeline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932688" y="1938528"/>
            <a:ext cx="5852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extraction, chunking, embedding, ChromaDB + BM25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20040" y="2112264"/>
            <a:ext cx="8503920" cy="347472"/>
          </a:xfrm>
          <a:prstGeom prst="roundRect">
            <a:avLst>
              <a:gd name="adj" fmla="val 13158"/>
            </a:avLst>
          </a:prstGeom>
          <a:solidFill>
            <a:srgbClr val="E8F4F8"/>
          </a:solidFill>
          <a:ln w="508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20" name="Shape 18"/>
          <p:cNvSpPr/>
          <p:nvPr/>
        </p:nvSpPr>
        <p:spPr>
          <a:xfrm>
            <a:off x="320040" y="2112264"/>
            <a:ext cx="502920" cy="34747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21" name="Text 19"/>
          <p:cNvSpPr/>
          <p:nvPr/>
        </p:nvSpPr>
        <p:spPr>
          <a:xfrm>
            <a:off x="320040" y="2148840"/>
            <a:ext cx="5029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932688" y="2148840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Retrieval &amp; RRF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932688" y="2313432"/>
            <a:ext cx="5852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 + sparse search, fusion algorithm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320040" y="2487168"/>
            <a:ext cx="8503920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508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25" name="Shape 23"/>
          <p:cNvSpPr/>
          <p:nvPr/>
        </p:nvSpPr>
        <p:spPr>
          <a:xfrm>
            <a:off x="320040" y="2487168"/>
            <a:ext cx="502920" cy="34747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26" name="Text 24"/>
          <p:cNvSpPr/>
          <p:nvPr/>
        </p:nvSpPr>
        <p:spPr>
          <a:xfrm>
            <a:off x="320040" y="2523744"/>
            <a:ext cx="5029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932688" y="2523744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Pipeline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932688" y="2688336"/>
            <a:ext cx="5852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 orchestration, 3-model architecture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320040" y="2862072"/>
            <a:ext cx="8503920" cy="347472"/>
          </a:xfrm>
          <a:prstGeom prst="roundRect">
            <a:avLst>
              <a:gd name="adj" fmla="val 13158"/>
            </a:avLst>
          </a:prstGeom>
          <a:solidFill>
            <a:srgbClr val="E8F4F8"/>
          </a:solidFill>
          <a:ln w="508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30" name="Shape 28"/>
          <p:cNvSpPr/>
          <p:nvPr/>
        </p:nvSpPr>
        <p:spPr>
          <a:xfrm>
            <a:off x="320040" y="2862072"/>
            <a:ext cx="502920" cy="34747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31" name="Text 29"/>
          <p:cNvSpPr/>
          <p:nvPr/>
        </p:nvSpPr>
        <p:spPr>
          <a:xfrm>
            <a:off x="320040" y="2898648"/>
            <a:ext cx="5029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932688" y="2898648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Hallucination Detection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932688" y="3063240"/>
            <a:ext cx="5852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→ Evaluate → Retry loop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320040" y="3236976"/>
            <a:ext cx="8503920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508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35" name="Shape 33"/>
          <p:cNvSpPr/>
          <p:nvPr/>
        </p:nvSpPr>
        <p:spPr>
          <a:xfrm>
            <a:off x="320040" y="3236976"/>
            <a:ext cx="502920" cy="34747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36" name="Text 34"/>
          <p:cNvSpPr/>
          <p:nvPr/>
        </p:nvSpPr>
        <p:spPr>
          <a:xfrm>
            <a:off x="320040" y="3273552"/>
            <a:ext cx="5029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932688" y="3273552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History Management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932688" y="3438144"/>
            <a:ext cx="5852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Rolling summarisation for context window control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320040" y="3611880"/>
            <a:ext cx="8503920" cy="347472"/>
          </a:xfrm>
          <a:prstGeom prst="roundRect">
            <a:avLst>
              <a:gd name="adj" fmla="val 13158"/>
            </a:avLst>
          </a:prstGeom>
          <a:solidFill>
            <a:srgbClr val="E8F4F8"/>
          </a:solidFill>
          <a:ln w="508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40" name="Shape 38"/>
          <p:cNvSpPr/>
          <p:nvPr/>
        </p:nvSpPr>
        <p:spPr>
          <a:xfrm>
            <a:off x="320040" y="3611880"/>
            <a:ext cx="502920" cy="34747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41" name="Text 39"/>
          <p:cNvSpPr/>
          <p:nvPr/>
        </p:nvSpPr>
        <p:spPr>
          <a:xfrm>
            <a:off x="320040" y="3648456"/>
            <a:ext cx="5029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932688" y="3648456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 &amp; Logging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932688" y="3813048"/>
            <a:ext cx="5852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logging, ngrok bug fix, Streamlit UI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320040" y="3986784"/>
            <a:ext cx="8503920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508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45" name="Shape 43"/>
          <p:cNvSpPr/>
          <p:nvPr/>
        </p:nvSpPr>
        <p:spPr>
          <a:xfrm>
            <a:off x="320040" y="3986784"/>
            <a:ext cx="502920" cy="34747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46" name="Text 44"/>
          <p:cNvSpPr/>
          <p:nvPr/>
        </p:nvSpPr>
        <p:spPr>
          <a:xfrm>
            <a:off x="320040" y="4023360"/>
            <a:ext cx="5029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932688" y="4023360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932688" y="4187952"/>
            <a:ext cx="5852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walkthrough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320040" y="4361688"/>
            <a:ext cx="8503920" cy="347472"/>
          </a:xfrm>
          <a:prstGeom prst="roundRect">
            <a:avLst>
              <a:gd name="adj" fmla="val 13158"/>
            </a:avLst>
          </a:prstGeom>
          <a:solidFill>
            <a:srgbClr val="E8F4F8"/>
          </a:solidFill>
          <a:ln w="508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50" name="Shape 48"/>
          <p:cNvSpPr/>
          <p:nvPr/>
        </p:nvSpPr>
        <p:spPr>
          <a:xfrm>
            <a:off x="320040" y="4361688"/>
            <a:ext cx="502920" cy="34747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51" name="Text 49"/>
          <p:cNvSpPr/>
          <p:nvPr/>
        </p:nvSpPr>
        <p:spPr>
          <a:xfrm>
            <a:off x="320040" y="4398264"/>
            <a:ext cx="5029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932688" y="4398264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932688" y="4562856"/>
            <a:ext cx="5852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decisions and lessons learned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3" name="Text 1"/>
          <p:cNvSpPr/>
          <p:nvPr/>
        </p:nvSpPr>
        <p:spPr>
          <a:xfrm>
            <a:off x="365760" y="73152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5760" y="78189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i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does RAG hallucinate — and why does that matter?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320040" y="1078992"/>
            <a:ext cx="8503920" cy="960120"/>
          </a:xfrm>
          <a:prstGeom prst="roundRect">
            <a:avLst>
              <a:gd name="adj" fmla="val 7619"/>
            </a:avLst>
          </a:prstGeom>
          <a:solidFill>
            <a:srgbClr val="FFF7ED"/>
          </a:solidFill>
          <a:ln w="6350">
            <a:solidFill>
              <a:srgbClr val="D1D5DB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6" name="Shape 4"/>
          <p:cNvSpPr/>
          <p:nvPr/>
        </p:nvSpPr>
        <p:spPr>
          <a:xfrm>
            <a:off x="320040" y="1078992"/>
            <a:ext cx="8503920" cy="960120"/>
          </a:xfrm>
          <a:prstGeom prst="roundRect">
            <a:avLst>
              <a:gd name="adj" fmla="val 7619"/>
            </a:avLst>
          </a:prstGeom>
          <a:solidFill>
            <a:srgbClr val="FFF7ED"/>
          </a:solidFill>
          <a:ln w="12700">
            <a:solidFill>
              <a:srgbClr val="FED7AA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261872"/>
            <a:ext cx="347472" cy="34747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05840" y="111556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Misconception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1005840" y="1316736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"RAG gives the model real documents — so it stops hallucinating."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1005840" y="1591056"/>
            <a:ext cx="7498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assumption most people start with. It is wrong.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365760" y="221284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Reality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365760" y="2633472"/>
            <a:ext cx="201168" cy="201168"/>
          </a:xfrm>
          <a:prstGeom prst="ellipse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3" name="Text 10"/>
          <p:cNvSpPr/>
          <p:nvPr/>
        </p:nvSpPr>
        <p:spPr>
          <a:xfrm>
            <a:off x="365760" y="2633472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658368" y="2578608"/>
            <a:ext cx="8138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reduces hallucination — it does not eliminate it.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365760" y="3044952"/>
            <a:ext cx="201168" cy="201168"/>
          </a:xfrm>
          <a:prstGeom prst="ellipse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6" name="Text 13"/>
          <p:cNvSpPr/>
          <p:nvPr/>
        </p:nvSpPr>
        <p:spPr>
          <a:xfrm>
            <a:off x="365760" y="3044952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50" dirty="0"/>
          </a:p>
        </p:txBody>
      </p:sp>
      <p:sp>
        <p:nvSpPr>
          <p:cNvPr id="17" name="Text 14"/>
          <p:cNvSpPr/>
          <p:nvPr/>
        </p:nvSpPr>
        <p:spPr>
          <a:xfrm>
            <a:off x="658368" y="2990088"/>
            <a:ext cx="8138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model can retrieve the right passages and still misrepresent, overgeneralise, or contradict them in its output.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365760" y="3456432"/>
            <a:ext cx="201168" cy="201168"/>
          </a:xfrm>
          <a:prstGeom prst="ellipse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9" name="Text 16"/>
          <p:cNvSpPr/>
          <p:nvPr/>
        </p:nvSpPr>
        <p:spPr>
          <a:xfrm>
            <a:off x="365760" y="3456432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50" dirty="0"/>
          </a:p>
        </p:txBody>
      </p:sp>
      <p:sp>
        <p:nvSpPr>
          <p:cNvPr id="20" name="Text 17"/>
          <p:cNvSpPr/>
          <p:nvPr/>
        </p:nvSpPr>
        <p:spPr>
          <a:xfrm>
            <a:off x="658368" y="3401568"/>
            <a:ext cx="8138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happens because LLMs generate probabilistically — they fill gaps with plausible-sounding text, even when told not to.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320040" y="4023360"/>
            <a:ext cx="8503920" cy="749808"/>
          </a:xfrm>
          <a:prstGeom prst="roundRect">
            <a:avLst>
              <a:gd name="adj" fmla="val 9756"/>
            </a:avLst>
          </a:prstGeom>
          <a:solidFill>
            <a:srgbClr val="EFF6FF"/>
          </a:solidFill>
          <a:ln w="6350">
            <a:solidFill>
              <a:srgbClr val="D1D5DB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22" name="Shape 19"/>
          <p:cNvSpPr/>
          <p:nvPr/>
        </p:nvSpPr>
        <p:spPr>
          <a:xfrm>
            <a:off x="320040" y="4023360"/>
            <a:ext cx="8503920" cy="749808"/>
          </a:xfrm>
          <a:prstGeom prst="roundRect">
            <a:avLst>
              <a:gd name="adj" fmla="val 9756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23" name="Text 20"/>
          <p:cNvSpPr/>
          <p:nvPr/>
        </p:nvSpPr>
        <p:spPr>
          <a:xfrm>
            <a:off x="548640" y="4078224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Task at Rapids AI:</a:t>
            </a:r>
            <a:endParaRPr lang="en-US" sz="950" dirty="0"/>
          </a:p>
        </p:txBody>
      </p:sp>
      <p:sp>
        <p:nvSpPr>
          <p:cNvPr id="24" name="Text 21"/>
          <p:cNvSpPr/>
          <p:nvPr/>
        </p:nvSpPr>
        <p:spPr>
          <a:xfrm>
            <a:off x="548640" y="4279392"/>
            <a:ext cx="8046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RAG system that actively detects its own hallucinations and corrects them before the response reaches the user — using a multi-model agentic loop.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3" name="Text 1"/>
          <p:cNvSpPr/>
          <p:nvPr/>
        </p:nvSpPr>
        <p:spPr>
          <a:xfrm>
            <a:off x="365760" y="73152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Built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5760" y="74980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i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system overview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274320" y="1013861"/>
            <a:ext cx="2788920" cy="3128540"/>
          </a:xfrm>
          <a:prstGeom prst="roundRect">
            <a:avLst>
              <a:gd name="adj" fmla="val 2623"/>
            </a:avLst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6" name="Shape 4"/>
          <p:cNvSpPr/>
          <p:nvPr/>
        </p:nvSpPr>
        <p:spPr>
          <a:xfrm>
            <a:off x="274320" y="1013861"/>
            <a:ext cx="2788920" cy="594360"/>
          </a:xfrm>
          <a:prstGeom prst="roundRect">
            <a:avLst>
              <a:gd name="adj" fmla="val 12308"/>
            </a:avLst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048" y="1123589"/>
            <a:ext cx="347472" cy="34747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04672" y="1123589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Base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438912" y="1791101"/>
            <a:ext cx="2468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personal finance books (PDFs)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438912" y="2284877"/>
            <a:ext cx="2468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ChromaDB vector store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438912" y="2778653"/>
            <a:ext cx="2468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BM25 sparse index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438912" y="3272429"/>
            <a:ext cx="2468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BAAI/bge-small-en-v1.5 embeddings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3182112" y="1013861"/>
            <a:ext cx="2788920" cy="3128540"/>
          </a:xfrm>
          <a:prstGeom prst="roundRect">
            <a:avLst>
              <a:gd name="adj" fmla="val 2623"/>
            </a:avLst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14" name="Shape 11"/>
          <p:cNvSpPr/>
          <p:nvPr/>
        </p:nvSpPr>
        <p:spPr>
          <a:xfrm>
            <a:off x="3182112" y="1013861"/>
            <a:ext cx="2788920" cy="594360"/>
          </a:xfrm>
          <a:prstGeom prst="roundRect">
            <a:avLst>
              <a:gd name="adj" fmla="val 12308"/>
            </a:avLst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91840" y="1123589"/>
            <a:ext cx="347472" cy="347472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3712464" y="1123589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Pipeline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3346704" y="1791101"/>
            <a:ext cx="2468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 orchestration</a:t>
            </a:r>
            <a:endParaRPr lang="en-US" sz="950" dirty="0"/>
          </a:p>
        </p:txBody>
      </p:sp>
      <p:sp>
        <p:nvSpPr>
          <p:cNvPr id="18" name="Text 14"/>
          <p:cNvSpPr/>
          <p:nvPr/>
        </p:nvSpPr>
        <p:spPr>
          <a:xfrm>
            <a:off x="3346704" y="2284877"/>
            <a:ext cx="2468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Qwen3.5 models (0.8B / 2B / 4B)</a:t>
            </a:r>
            <a:endParaRPr lang="en-US" sz="950" dirty="0"/>
          </a:p>
        </p:txBody>
      </p:sp>
      <p:sp>
        <p:nvSpPr>
          <p:cNvPr id="19" name="Text 15"/>
          <p:cNvSpPr/>
          <p:nvPr/>
        </p:nvSpPr>
        <p:spPr>
          <a:xfrm>
            <a:off x="3346704" y="2778653"/>
            <a:ext cx="2468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rewrite + routing</a:t>
            </a:r>
            <a:endParaRPr lang="en-US" sz="950" dirty="0"/>
          </a:p>
        </p:txBody>
      </p:sp>
      <p:sp>
        <p:nvSpPr>
          <p:cNvPr id="20" name="Text 16"/>
          <p:cNvSpPr/>
          <p:nvPr/>
        </p:nvSpPr>
        <p:spPr>
          <a:xfrm>
            <a:off x="3346704" y="3272429"/>
            <a:ext cx="2468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→ Evaluate → Retry loop</a:t>
            </a:r>
            <a:endParaRPr lang="en-US" sz="950" dirty="0"/>
          </a:p>
        </p:txBody>
      </p:sp>
      <p:sp>
        <p:nvSpPr>
          <p:cNvPr id="21" name="Shape 17"/>
          <p:cNvSpPr/>
          <p:nvPr/>
        </p:nvSpPr>
        <p:spPr>
          <a:xfrm>
            <a:off x="6089904" y="1013861"/>
            <a:ext cx="2788920" cy="3128540"/>
          </a:xfrm>
          <a:prstGeom prst="roundRect">
            <a:avLst>
              <a:gd name="adj" fmla="val 2623"/>
            </a:avLst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22" name="Shape 18"/>
          <p:cNvSpPr/>
          <p:nvPr/>
        </p:nvSpPr>
        <p:spPr>
          <a:xfrm>
            <a:off x="6089904" y="1013861"/>
            <a:ext cx="2788920" cy="594360"/>
          </a:xfrm>
          <a:prstGeom prst="roundRect">
            <a:avLst>
              <a:gd name="adj" fmla="val 12308"/>
            </a:avLst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pic>
        <p:nvPicPr>
          <p:cNvPr id="2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99632" y="1123589"/>
            <a:ext cx="347472" cy="347472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6620256" y="1123589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Interface</a:t>
            </a:r>
            <a:endParaRPr lang="en-US" sz="1100" dirty="0"/>
          </a:p>
        </p:txBody>
      </p:sp>
      <p:sp>
        <p:nvSpPr>
          <p:cNvPr id="25" name="Text 20"/>
          <p:cNvSpPr/>
          <p:nvPr/>
        </p:nvSpPr>
        <p:spPr>
          <a:xfrm>
            <a:off x="6254496" y="1791101"/>
            <a:ext cx="2468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Dark-mode chat UI</a:t>
            </a:r>
            <a:endParaRPr lang="en-US" sz="950" dirty="0"/>
          </a:p>
        </p:txBody>
      </p:sp>
      <p:sp>
        <p:nvSpPr>
          <p:cNvPr id="26" name="Text 21"/>
          <p:cNvSpPr/>
          <p:nvPr/>
        </p:nvSpPr>
        <p:spPr>
          <a:xfrm>
            <a:off x="6254496" y="2284877"/>
            <a:ext cx="2468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pipeline trace panel</a:t>
            </a:r>
            <a:endParaRPr lang="en-US" sz="950" dirty="0"/>
          </a:p>
        </p:txBody>
      </p:sp>
      <p:sp>
        <p:nvSpPr>
          <p:cNvPr id="27" name="Text 22"/>
          <p:cNvSpPr/>
          <p:nvPr/>
        </p:nvSpPr>
        <p:spPr>
          <a:xfrm>
            <a:off x="6254496" y="2778653"/>
            <a:ext cx="2468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Rolling chat summarisation</a:t>
            </a:r>
            <a:endParaRPr lang="en-US" sz="950" dirty="0"/>
          </a:p>
        </p:txBody>
      </p:sp>
      <p:sp>
        <p:nvSpPr>
          <p:cNvPr id="28" name="Text 23"/>
          <p:cNvSpPr/>
          <p:nvPr/>
        </p:nvSpPr>
        <p:spPr>
          <a:xfrm>
            <a:off x="6254496" y="3272429"/>
            <a:ext cx="2468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session logging</a:t>
            </a:r>
            <a:endParaRPr lang="en-US" sz="950" dirty="0"/>
          </a:p>
        </p:txBody>
      </p:sp>
      <p:sp>
        <p:nvSpPr>
          <p:cNvPr id="29" name="Text 24"/>
          <p:cNvSpPr/>
          <p:nvPr/>
        </p:nvSpPr>
        <p:spPr>
          <a:xfrm>
            <a:off x="320040" y="4453774"/>
            <a:ext cx="8503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Books in the corpus:</a:t>
            </a:r>
            <a:endParaRPr lang="en-US" sz="900" dirty="0"/>
          </a:p>
        </p:txBody>
      </p:sp>
      <p:sp>
        <p:nvSpPr>
          <p:cNvPr id="30" name="Text 25"/>
          <p:cNvSpPr/>
          <p:nvPr/>
        </p:nvSpPr>
        <p:spPr>
          <a:xfrm>
            <a:off x="320040" y="4618366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Rich Dad Poor Dad  ·  Psychology of Money  ·  Money Master the Game  ·  The Automatic Millionaire  ·  Unshakeable  ·  Secrets of the Millionaire Mind  ·  The Millionaire Next Door  ·  The Total Money Makeover  ·  Brief Guide to Financial Freedom  ·  I Will Teach You to Be Rich  ·  + 1 more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3" name="Text 1"/>
          <p:cNvSpPr/>
          <p:nvPr/>
        </p:nvSpPr>
        <p:spPr>
          <a:xfrm>
            <a:off x="365760" y="73152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— Ingestion Pipeline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5760" y="74980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i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Offline, one-time process: PDFs → searchable vector database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228600" y="1024128"/>
            <a:ext cx="1627632" cy="3172965"/>
          </a:xfrm>
          <a:prstGeom prst="roundRect">
            <a:avLst>
              <a:gd name="adj" fmla="val 4494"/>
            </a:avLst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6" name="Shape 4"/>
          <p:cNvSpPr/>
          <p:nvPr/>
        </p:nvSpPr>
        <p:spPr>
          <a:xfrm>
            <a:off x="228600" y="1024128"/>
            <a:ext cx="1627632" cy="475488"/>
          </a:xfrm>
          <a:prstGeom prst="roundRect">
            <a:avLst>
              <a:gd name="adj" fmla="val 13462"/>
            </a:avLst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1752" y="1097280"/>
            <a:ext cx="292608" cy="29260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40080" y="1078992"/>
            <a:ext cx="1143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PDF Extraction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301752" y="1627632"/>
            <a:ext cx="14813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pypdf — page by page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301752" y="2130552"/>
            <a:ext cx="14813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Skip empty pages silently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301752" y="2633472"/>
            <a:ext cx="14813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Preserve paragraph breaks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301752" y="3136392"/>
            <a:ext cx="14813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11 books, all copyable text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1856232" y="1261872"/>
            <a:ext cx="118872" cy="0"/>
          </a:xfrm>
          <a:prstGeom prst="line">
            <a:avLst/>
          </a:prstGeom>
          <a:noFill/>
          <a:ln w="1905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4" name="Shape 11"/>
          <p:cNvSpPr/>
          <p:nvPr/>
        </p:nvSpPr>
        <p:spPr>
          <a:xfrm>
            <a:off x="1975104" y="1024127"/>
            <a:ext cx="1627632" cy="3172961"/>
          </a:xfrm>
          <a:prstGeom prst="roundRect">
            <a:avLst>
              <a:gd name="adj" fmla="val 4494"/>
            </a:avLst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15" name="Shape 12"/>
          <p:cNvSpPr/>
          <p:nvPr/>
        </p:nvSpPr>
        <p:spPr>
          <a:xfrm>
            <a:off x="1975104" y="1024128"/>
            <a:ext cx="1627632" cy="475488"/>
          </a:xfrm>
          <a:prstGeom prst="roundRect">
            <a:avLst>
              <a:gd name="adj" fmla="val 13462"/>
            </a:avLst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48256" y="1097280"/>
            <a:ext cx="292608" cy="292608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2386584" y="1078992"/>
            <a:ext cx="1143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Chunking</a:t>
            </a:r>
            <a:endParaRPr lang="en-US" sz="800" dirty="0"/>
          </a:p>
        </p:txBody>
      </p:sp>
      <p:sp>
        <p:nvSpPr>
          <p:cNvPr id="18" name="Text 14"/>
          <p:cNvSpPr/>
          <p:nvPr/>
        </p:nvSpPr>
        <p:spPr>
          <a:xfrm>
            <a:off x="2048256" y="1627632"/>
            <a:ext cx="14813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RecursiveCharacterTextSplitter</a:t>
            </a:r>
            <a:endParaRPr lang="en-US" sz="800" dirty="0"/>
          </a:p>
        </p:txBody>
      </p:sp>
      <p:sp>
        <p:nvSpPr>
          <p:cNvPr id="19" name="Text 15"/>
          <p:cNvSpPr/>
          <p:nvPr/>
        </p:nvSpPr>
        <p:spPr>
          <a:xfrm>
            <a:off x="2048256" y="2130552"/>
            <a:ext cx="14813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chunk_size = 800 tokens</a:t>
            </a:r>
            <a:endParaRPr lang="en-US" sz="800" dirty="0"/>
          </a:p>
        </p:txBody>
      </p:sp>
      <p:sp>
        <p:nvSpPr>
          <p:cNvPr id="20" name="Text 16"/>
          <p:cNvSpPr/>
          <p:nvPr/>
        </p:nvSpPr>
        <p:spPr>
          <a:xfrm>
            <a:off x="2048256" y="2633472"/>
            <a:ext cx="14813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chunk_overlap = 150 tokens</a:t>
            </a:r>
            <a:endParaRPr lang="en-US" sz="800" dirty="0"/>
          </a:p>
        </p:txBody>
      </p:sp>
      <p:sp>
        <p:nvSpPr>
          <p:cNvPr id="21" name="Text 17"/>
          <p:cNvSpPr/>
          <p:nvPr/>
        </p:nvSpPr>
        <p:spPr>
          <a:xfrm>
            <a:off x="2048256" y="3136392"/>
            <a:ext cx="14813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Separator priority: \n\n → \n → .</a:t>
            </a:r>
            <a:endParaRPr lang="en-US" sz="800" dirty="0"/>
          </a:p>
        </p:txBody>
      </p:sp>
      <p:sp>
        <p:nvSpPr>
          <p:cNvPr id="22" name="Shape 18"/>
          <p:cNvSpPr/>
          <p:nvPr/>
        </p:nvSpPr>
        <p:spPr>
          <a:xfrm>
            <a:off x="3602736" y="1261872"/>
            <a:ext cx="118872" cy="0"/>
          </a:xfrm>
          <a:prstGeom prst="line">
            <a:avLst/>
          </a:prstGeom>
          <a:noFill/>
          <a:ln w="1905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23" name="Shape 19"/>
          <p:cNvSpPr/>
          <p:nvPr/>
        </p:nvSpPr>
        <p:spPr>
          <a:xfrm>
            <a:off x="3721608" y="1024128"/>
            <a:ext cx="1627632" cy="3172956"/>
          </a:xfrm>
          <a:prstGeom prst="roundRect">
            <a:avLst>
              <a:gd name="adj" fmla="val 4494"/>
            </a:avLst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24" name="Shape 20"/>
          <p:cNvSpPr/>
          <p:nvPr/>
        </p:nvSpPr>
        <p:spPr>
          <a:xfrm>
            <a:off x="3721608" y="1024128"/>
            <a:ext cx="1627632" cy="475488"/>
          </a:xfrm>
          <a:prstGeom prst="roundRect">
            <a:avLst>
              <a:gd name="adj" fmla="val 13462"/>
            </a:avLst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pic>
        <p:nvPicPr>
          <p:cNvPr id="2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94760" y="1097280"/>
            <a:ext cx="292608" cy="292608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4133088" y="1078992"/>
            <a:ext cx="1143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Embedding (BGE)</a:t>
            </a:r>
            <a:endParaRPr lang="en-US" sz="800" dirty="0"/>
          </a:p>
        </p:txBody>
      </p:sp>
      <p:sp>
        <p:nvSpPr>
          <p:cNvPr id="27" name="Text 22"/>
          <p:cNvSpPr/>
          <p:nvPr/>
        </p:nvSpPr>
        <p:spPr>
          <a:xfrm>
            <a:off x="3794760" y="1627632"/>
            <a:ext cx="14813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BAAI/bge-small-en-v1.5</a:t>
            </a:r>
            <a:endParaRPr lang="en-US" sz="800" dirty="0"/>
          </a:p>
        </p:txBody>
      </p:sp>
      <p:sp>
        <p:nvSpPr>
          <p:cNvPr id="28" name="Text 23"/>
          <p:cNvSpPr/>
          <p:nvPr/>
        </p:nvSpPr>
        <p:spPr>
          <a:xfrm>
            <a:off x="3794760" y="2130552"/>
            <a:ext cx="14813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Passages: no prefix</a:t>
            </a:r>
            <a:endParaRPr lang="en-US" sz="800" dirty="0"/>
          </a:p>
        </p:txBody>
      </p:sp>
      <p:sp>
        <p:nvSpPr>
          <p:cNvPr id="29" name="Text 24"/>
          <p:cNvSpPr/>
          <p:nvPr/>
        </p:nvSpPr>
        <p:spPr>
          <a:xfrm>
            <a:off x="3794760" y="2633472"/>
            <a:ext cx="14813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Queries: add prefix string</a:t>
            </a:r>
            <a:endParaRPr lang="en-US" sz="800" dirty="0"/>
          </a:p>
        </p:txBody>
      </p:sp>
      <p:sp>
        <p:nvSpPr>
          <p:cNvPr id="30" name="Text 25"/>
          <p:cNvSpPr/>
          <p:nvPr/>
        </p:nvSpPr>
        <p:spPr>
          <a:xfrm>
            <a:off x="3794760" y="3136392"/>
            <a:ext cx="14813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Batch size = 32, CPU only</a:t>
            </a:r>
            <a:endParaRPr lang="en-US" sz="800" dirty="0"/>
          </a:p>
        </p:txBody>
      </p:sp>
      <p:sp>
        <p:nvSpPr>
          <p:cNvPr id="31" name="Shape 26"/>
          <p:cNvSpPr/>
          <p:nvPr/>
        </p:nvSpPr>
        <p:spPr>
          <a:xfrm>
            <a:off x="5349240" y="1261872"/>
            <a:ext cx="118872" cy="0"/>
          </a:xfrm>
          <a:prstGeom prst="line">
            <a:avLst/>
          </a:prstGeom>
          <a:noFill/>
          <a:ln w="1905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32" name="Shape 27"/>
          <p:cNvSpPr/>
          <p:nvPr/>
        </p:nvSpPr>
        <p:spPr>
          <a:xfrm>
            <a:off x="5468112" y="1024128"/>
            <a:ext cx="1627632" cy="3172955"/>
          </a:xfrm>
          <a:prstGeom prst="roundRect">
            <a:avLst>
              <a:gd name="adj" fmla="val 4494"/>
            </a:avLst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33" name="Shape 28"/>
          <p:cNvSpPr/>
          <p:nvPr/>
        </p:nvSpPr>
        <p:spPr>
          <a:xfrm>
            <a:off x="5468112" y="1024128"/>
            <a:ext cx="1627632" cy="475488"/>
          </a:xfrm>
          <a:prstGeom prst="roundRect">
            <a:avLst>
              <a:gd name="adj" fmla="val 13462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pic>
        <p:nvPicPr>
          <p:cNvPr id="3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41264" y="1097280"/>
            <a:ext cx="292608" cy="292608"/>
          </a:xfrm>
          <a:prstGeom prst="rect">
            <a:avLst/>
          </a:prstGeom>
        </p:spPr>
      </p:pic>
      <p:sp>
        <p:nvSpPr>
          <p:cNvPr id="35" name="Text 29"/>
          <p:cNvSpPr/>
          <p:nvPr/>
        </p:nvSpPr>
        <p:spPr>
          <a:xfrm>
            <a:off x="5879592" y="1078992"/>
            <a:ext cx="1143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ChromaDB</a:t>
            </a:r>
            <a:endParaRPr lang="en-US" sz="800" dirty="0"/>
          </a:p>
        </p:txBody>
      </p:sp>
      <p:sp>
        <p:nvSpPr>
          <p:cNvPr id="36" name="Text 30"/>
          <p:cNvSpPr/>
          <p:nvPr/>
        </p:nvSpPr>
        <p:spPr>
          <a:xfrm>
            <a:off x="5541264" y="1627632"/>
            <a:ext cx="14813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Persistent vector store</a:t>
            </a:r>
            <a:endParaRPr lang="en-US" sz="800" dirty="0"/>
          </a:p>
        </p:txBody>
      </p:sp>
      <p:sp>
        <p:nvSpPr>
          <p:cNvPr id="37" name="Text 31"/>
          <p:cNvSpPr/>
          <p:nvPr/>
        </p:nvSpPr>
        <p:spPr>
          <a:xfrm>
            <a:off x="5541264" y="2130552"/>
            <a:ext cx="14813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Cosine distance metric</a:t>
            </a:r>
            <a:endParaRPr lang="en-US" sz="800" dirty="0"/>
          </a:p>
        </p:txBody>
      </p:sp>
      <p:sp>
        <p:nvSpPr>
          <p:cNvPr id="38" name="Text 32"/>
          <p:cNvSpPr/>
          <p:nvPr/>
        </p:nvSpPr>
        <p:spPr>
          <a:xfrm>
            <a:off x="5541264" y="2633472"/>
            <a:ext cx="14813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Stores vectors + metadata</a:t>
            </a:r>
            <a:endParaRPr lang="en-US" sz="800" dirty="0"/>
          </a:p>
        </p:txBody>
      </p:sp>
      <p:sp>
        <p:nvSpPr>
          <p:cNvPr id="39" name="Text 33"/>
          <p:cNvSpPr/>
          <p:nvPr/>
        </p:nvSpPr>
        <p:spPr>
          <a:xfrm>
            <a:off x="5541264" y="3136392"/>
            <a:ext cx="14813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Enables dense retrieval</a:t>
            </a:r>
            <a:endParaRPr lang="en-US" sz="800" dirty="0"/>
          </a:p>
        </p:txBody>
      </p:sp>
      <p:sp>
        <p:nvSpPr>
          <p:cNvPr id="40" name="Shape 34"/>
          <p:cNvSpPr/>
          <p:nvPr/>
        </p:nvSpPr>
        <p:spPr>
          <a:xfrm>
            <a:off x="7095744" y="1261872"/>
            <a:ext cx="118872" cy="0"/>
          </a:xfrm>
          <a:prstGeom prst="line">
            <a:avLst/>
          </a:prstGeom>
          <a:noFill/>
          <a:ln w="1905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41" name="Shape 35"/>
          <p:cNvSpPr/>
          <p:nvPr/>
        </p:nvSpPr>
        <p:spPr>
          <a:xfrm>
            <a:off x="7214616" y="1024128"/>
            <a:ext cx="1627632" cy="3172951"/>
          </a:xfrm>
          <a:prstGeom prst="roundRect">
            <a:avLst>
              <a:gd name="adj" fmla="val 4494"/>
            </a:avLst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42" name="Shape 36"/>
          <p:cNvSpPr/>
          <p:nvPr/>
        </p:nvSpPr>
        <p:spPr>
          <a:xfrm>
            <a:off x="7214616" y="1024128"/>
            <a:ext cx="1627632" cy="475488"/>
          </a:xfrm>
          <a:prstGeom prst="roundRect">
            <a:avLst>
              <a:gd name="adj" fmla="val 13462"/>
            </a:avLst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pic>
        <p:nvPicPr>
          <p:cNvPr id="4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87768" y="1097280"/>
            <a:ext cx="292608" cy="292608"/>
          </a:xfrm>
          <a:prstGeom prst="rect">
            <a:avLst/>
          </a:prstGeom>
        </p:spPr>
      </p:pic>
      <p:sp>
        <p:nvSpPr>
          <p:cNvPr id="44" name="Text 37"/>
          <p:cNvSpPr/>
          <p:nvPr/>
        </p:nvSpPr>
        <p:spPr>
          <a:xfrm>
            <a:off x="7626096" y="1078992"/>
            <a:ext cx="1143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BM25 Index</a:t>
            </a:r>
            <a:endParaRPr lang="en-US" sz="800" dirty="0"/>
          </a:p>
        </p:txBody>
      </p:sp>
      <p:sp>
        <p:nvSpPr>
          <p:cNvPr id="45" name="Text 38"/>
          <p:cNvSpPr/>
          <p:nvPr/>
        </p:nvSpPr>
        <p:spPr>
          <a:xfrm>
            <a:off x="7287768" y="1627632"/>
            <a:ext cx="14813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rank-bm25 library</a:t>
            </a:r>
            <a:endParaRPr lang="en-US" sz="800" dirty="0"/>
          </a:p>
        </p:txBody>
      </p:sp>
      <p:sp>
        <p:nvSpPr>
          <p:cNvPr id="46" name="Text 39"/>
          <p:cNvSpPr/>
          <p:nvPr/>
        </p:nvSpPr>
        <p:spPr>
          <a:xfrm>
            <a:off x="7287768" y="2130552"/>
            <a:ext cx="14813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Whitespace tokenisation</a:t>
            </a:r>
            <a:endParaRPr lang="en-US" sz="800" dirty="0"/>
          </a:p>
        </p:txBody>
      </p:sp>
      <p:sp>
        <p:nvSpPr>
          <p:cNvPr id="47" name="Text 40"/>
          <p:cNvSpPr/>
          <p:nvPr/>
        </p:nvSpPr>
        <p:spPr>
          <a:xfrm>
            <a:off x="7287768" y="2633472"/>
            <a:ext cx="14813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Pickled to chroma_db/</a:t>
            </a:r>
            <a:endParaRPr lang="en-US" sz="800" dirty="0"/>
          </a:p>
        </p:txBody>
      </p:sp>
      <p:sp>
        <p:nvSpPr>
          <p:cNvPr id="48" name="Text 41"/>
          <p:cNvSpPr/>
          <p:nvPr/>
        </p:nvSpPr>
        <p:spPr>
          <a:xfrm>
            <a:off x="7287768" y="3136392"/>
            <a:ext cx="14813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corpus_metadata.pkl for mapping</a:t>
            </a:r>
            <a:endParaRPr lang="en-US" sz="800" dirty="0"/>
          </a:p>
        </p:txBody>
      </p:sp>
      <p:sp>
        <p:nvSpPr>
          <p:cNvPr id="49" name="Shape 42"/>
          <p:cNvSpPr/>
          <p:nvPr/>
        </p:nvSpPr>
        <p:spPr>
          <a:xfrm>
            <a:off x="228600" y="4453111"/>
            <a:ext cx="8686800" cy="566928"/>
          </a:xfrm>
          <a:prstGeom prst="roundRect">
            <a:avLst>
              <a:gd name="adj" fmla="val 12903"/>
            </a:avLst>
          </a:prstGeom>
          <a:solidFill>
            <a:srgbClr val="F0FDF4"/>
          </a:solidFill>
          <a:ln w="6350">
            <a:solidFill>
              <a:srgbClr val="D1D5DB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50" name="Shape 43"/>
          <p:cNvSpPr/>
          <p:nvPr/>
        </p:nvSpPr>
        <p:spPr>
          <a:xfrm>
            <a:off x="228600" y="4453111"/>
            <a:ext cx="8686800" cy="566928"/>
          </a:xfrm>
          <a:prstGeom prst="roundRect">
            <a:avLst>
              <a:gd name="adj" fmla="val 11290"/>
            </a:avLst>
          </a:prstGeom>
          <a:solidFill>
            <a:srgbClr val="F0FDF4"/>
          </a:solidFill>
          <a:ln w="10160">
            <a:solidFill>
              <a:srgbClr val="BBF7D0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51" name="Text 44"/>
          <p:cNvSpPr/>
          <p:nvPr/>
        </p:nvSpPr>
        <p:spPr>
          <a:xfrm>
            <a:off x="411480" y="4489687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800 tokens / 150 overlap?</a:t>
            </a:r>
            <a:endParaRPr lang="en-US" sz="900" dirty="0"/>
          </a:p>
        </p:txBody>
      </p:sp>
      <p:sp>
        <p:nvSpPr>
          <p:cNvPr id="52" name="Text 45"/>
          <p:cNvSpPr/>
          <p:nvPr/>
        </p:nvSpPr>
        <p:spPr>
          <a:xfrm>
            <a:off x="411480" y="4654279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 nonfiction arguments span multiple sentences. 800 tokens preserves a complete idea. 150-token overlap ensures no concept split at a boundary ever goes unrepresented in at least one chunk.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6751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3" name="Text 1"/>
          <p:cNvSpPr/>
          <p:nvPr/>
        </p:nvSpPr>
        <p:spPr>
          <a:xfrm>
            <a:off x="365760" y="73152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— Hybrid Retrieval &amp; RRF Fusion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5760" y="66959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i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 semantic search + sparse keyword search, merged by rank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274320" y="925630"/>
            <a:ext cx="274320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6" name="Shape 4"/>
          <p:cNvSpPr/>
          <p:nvPr/>
        </p:nvSpPr>
        <p:spPr>
          <a:xfrm>
            <a:off x="274320" y="925630"/>
            <a:ext cx="2743200" cy="384048"/>
          </a:xfrm>
          <a:prstGeom prst="roundRect">
            <a:avLst>
              <a:gd name="adj" fmla="val 16667"/>
            </a:avLst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7" name="Text 5"/>
          <p:cNvSpPr/>
          <p:nvPr/>
        </p:nvSpPr>
        <p:spPr>
          <a:xfrm>
            <a:off x="411480" y="998782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ChromaDB  —  Dense Search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411480" y="1401118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Query vector vs. chunk vectors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11480" y="1785166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Finds conceptually similar text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11480" y="2169214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Even without shared keywords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11480" y="2553262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Returns top-15 by cosine score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291840" y="925630"/>
            <a:ext cx="274320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13" name="Shape 11"/>
          <p:cNvSpPr/>
          <p:nvPr/>
        </p:nvSpPr>
        <p:spPr>
          <a:xfrm>
            <a:off x="3291840" y="925630"/>
            <a:ext cx="2743200" cy="384048"/>
          </a:xfrm>
          <a:prstGeom prst="roundRect">
            <a:avLst>
              <a:gd name="adj" fmla="val 16667"/>
            </a:avLst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4" name="Text 12"/>
          <p:cNvSpPr/>
          <p:nvPr/>
        </p:nvSpPr>
        <p:spPr>
          <a:xfrm>
            <a:off x="3429000" y="998782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BM25  —  Sparse Search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3429000" y="1401118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Term frequency + document frequency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429000" y="1785166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Finds exact keyword matches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429000" y="2169214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Rare terms score higher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429000" y="2553262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Returns top-15 by BM25 score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263640" y="925630"/>
            <a:ext cx="2606040" cy="2103120"/>
          </a:xfrm>
          <a:prstGeom prst="roundRect">
            <a:avLst>
              <a:gd name="adj" fmla="val 3478"/>
            </a:avLst>
          </a:prstGeom>
          <a:solidFill>
            <a:srgbClr val="EFF6FF"/>
          </a:solidFill>
          <a:ln w="6350">
            <a:solidFill>
              <a:srgbClr val="D1D5DB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20" name="Shape 18"/>
          <p:cNvSpPr/>
          <p:nvPr/>
        </p:nvSpPr>
        <p:spPr>
          <a:xfrm>
            <a:off x="6263640" y="925630"/>
            <a:ext cx="2606040" cy="384048"/>
          </a:xfrm>
          <a:prstGeom prst="roundRect">
            <a:avLst>
              <a:gd name="adj" fmla="val 16667"/>
            </a:avLst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21" name="Text 19"/>
          <p:cNvSpPr/>
          <p:nvPr/>
        </p:nvSpPr>
        <p:spPr>
          <a:xfrm>
            <a:off x="6400800" y="998782"/>
            <a:ext cx="2331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RRF Fusion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6400800" y="142855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RRF(d) = Σ  1 / (k + rank)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6400800" y="1730302"/>
            <a:ext cx="2377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 = 60  (dampens rank-1 dominance)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 is 1-indexed per list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 scores summed across both lists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8 fused results passed to LLM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274320" y="3165910"/>
            <a:ext cx="8686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  —  Query: "how should I invest my first salary?"</a:t>
            </a:r>
            <a:endParaRPr lang="en-US" sz="1000" dirty="0"/>
          </a:p>
        </p:txBody>
      </p:sp>
      <p:graphicFrame>
        <p:nvGraphicFramePr>
          <p:cNvPr id="2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84505342"/>
              </p:ext>
            </p:extLst>
          </p:nvPr>
        </p:nvGraphicFramePr>
        <p:xfrm>
          <a:off x="274320" y="3440230"/>
          <a:ext cx="8641080" cy="1371600"/>
        </p:xfrm>
        <a:graphic>
          <a:graphicData uri="http://schemas.openxmlformats.org/drawingml/2006/table">
            <a:tbl>
              <a:tblPr/>
              <a:tblGrid>
                <a:gridCol w="3108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Chunk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ChromaDB Rank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BM25 Rank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RRF Score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Winner?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Automatic Millionaire — pay yourself first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Rank 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Rank 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0.03252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Top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Rich Dad Poor Dad — assets vs liabilities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Rank 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Rank 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0.03200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Strong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Psychology of Money — long-term thinking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Rank 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in list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0.01639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⚠ Dense only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Unshakeable — index fund basics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in list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Rank 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0.01587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⚠ Sparse only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9" name="Text 26"/>
          <p:cNvSpPr/>
          <p:nvPr/>
        </p:nvSpPr>
        <p:spPr>
          <a:xfrm>
            <a:off x="274320" y="4894126"/>
            <a:ext cx="8641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document that ranks well across BOTH methods beats one that dominates only one — this is RRF's core value.</a:t>
            </a:r>
            <a:endParaRPr lang="en-US" sz="850" b="1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3374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3" name="Text 1"/>
          <p:cNvSpPr/>
          <p:nvPr/>
        </p:nvSpPr>
        <p:spPr>
          <a:xfrm>
            <a:off x="365760" y="73152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Pipeline — LangGraph Orchestration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5760" y="653556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i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models, two paths, one stateful graph</a:t>
            </a:r>
            <a:endParaRPr lang="en-US" sz="105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92699809"/>
              </p:ext>
            </p:extLst>
          </p:nvPr>
        </p:nvGraphicFramePr>
        <p:xfrm>
          <a:off x="274320" y="909588"/>
          <a:ext cx="8641080" cy="1097280"/>
        </p:xfrm>
        <a:graphic>
          <a:graphicData uri="http://schemas.openxmlformats.org/drawingml/2006/table">
            <a:tbl>
              <a:tblPr/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29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Size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Why this model?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qwen3.5:0.8b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873M params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Query rewrite, routing, query expansion, chat summarisation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Fast, cheap — used for decisions, not generation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qwen3.5:2b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2B params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Conversational replies on general queries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Mid-tier; handles casual chat without heavy compute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qwen3.5:4b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4.7B params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RAG generation + hallucination evaluation (2 separate calls)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Best quality available; used where accuracy matters most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320040" y="2028045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Flow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312179" y="2285040"/>
            <a:ext cx="1463040" cy="438912"/>
          </a:xfrm>
          <a:prstGeom prst="roundRect">
            <a:avLst>
              <a:gd name="adj" fmla="val 14583"/>
            </a:avLst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5" name="Text 5"/>
          <p:cNvSpPr/>
          <p:nvPr/>
        </p:nvSpPr>
        <p:spPr>
          <a:xfrm>
            <a:off x="312179" y="2321616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Query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1958099" y="2285040"/>
            <a:ext cx="1554480" cy="438912"/>
          </a:xfrm>
          <a:prstGeom prst="roundRect">
            <a:avLst>
              <a:gd name="adj" fmla="val 14583"/>
            </a:avLst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0" name="Text 7"/>
          <p:cNvSpPr/>
          <p:nvPr/>
        </p:nvSpPr>
        <p:spPr>
          <a:xfrm>
            <a:off x="1958099" y="2321616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Rewrite + Route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1958099" y="2522784"/>
            <a:ext cx="1554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B0E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0.8B</a:t>
            </a:r>
            <a:endParaRPr lang="en-US" sz="750" dirty="0"/>
          </a:p>
        </p:txBody>
      </p:sp>
      <p:sp>
        <p:nvSpPr>
          <p:cNvPr id="12" name="Shape 9"/>
          <p:cNvSpPr/>
          <p:nvPr/>
        </p:nvSpPr>
        <p:spPr>
          <a:xfrm>
            <a:off x="1775219" y="2504496"/>
            <a:ext cx="182880" cy="0"/>
          </a:xfrm>
          <a:prstGeom prst="line">
            <a:avLst/>
          </a:prstGeom>
          <a:noFill/>
          <a:ln w="1905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3" name="Shape 10"/>
          <p:cNvSpPr/>
          <p:nvPr/>
        </p:nvSpPr>
        <p:spPr>
          <a:xfrm>
            <a:off x="3759467" y="2193600"/>
            <a:ext cx="1371600" cy="640080"/>
          </a:xfrm>
          <a:prstGeom prst="rect">
            <a:avLst/>
          </a:prstGeom>
          <a:solidFill>
            <a:srgbClr val="EAB308"/>
          </a:solidFill>
          <a:ln w="12700">
            <a:solidFill>
              <a:srgbClr val="CA8A04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4" name="Text 11"/>
          <p:cNvSpPr/>
          <p:nvPr/>
        </p:nvSpPr>
        <p:spPr>
          <a:xfrm>
            <a:off x="3759467" y="2248464"/>
            <a:ext cx="1371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3512579" y="2504496"/>
            <a:ext cx="246888" cy="0"/>
          </a:xfrm>
          <a:prstGeom prst="line">
            <a:avLst/>
          </a:prstGeom>
          <a:noFill/>
          <a:ln w="1905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6" name="Shape 13"/>
          <p:cNvSpPr/>
          <p:nvPr/>
        </p:nvSpPr>
        <p:spPr>
          <a:xfrm>
            <a:off x="4453288" y="2833680"/>
            <a:ext cx="0" cy="640080"/>
          </a:xfrm>
          <a:prstGeom prst="line">
            <a:avLst/>
          </a:prstGeom>
          <a:noFill/>
          <a:ln w="1524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7" name="Shape 14"/>
          <p:cNvSpPr/>
          <p:nvPr/>
        </p:nvSpPr>
        <p:spPr>
          <a:xfrm>
            <a:off x="3759467" y="3406547"/>
            <a:ext cx="1371600" cy="420624"/>
          </a:xfrm>
          <a:prstGeom prst="roundRect">
            <a:avLst>
              <a:gd name="adj" fmla="val 15217"/>
            </a:avLst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8" name="Text 15"/>
          <p:cNvSpPr/>
          <p:nvPr/>
        </p:nvSpPr>
        <p:spPr>
          <a:xfrm>
            <a:off x="3759467" y="3452267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 Answer</a:t>
            </a:r>
            <a:endParaRPr lang="en-US" sz="800" dirty="0"/>
          </a:p>
        </p:txBody>
      </p:sp>
      <p:sp>
        <p:nvSpPr>
          <p:cNvPr id="19" name="Text 16"/>
          <p:cNvSpPr/>
          <p:nvPr/>
        </p:nvSpPr>
        <p:spPr>
          <a:xfrm>
            <a:off x="3759467" y="3635147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BBF7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2B model</a:t>
            </a:r>
            <a:endParaRPr lang="en-US" sz="700" dirty="0"/>
          </a:p>
        </p:txBody>
      </p:sp>
      <p:sp>
        <p:nvSpPr>
          <p:cNvPr id="20" name="Text 17"/>
          <p:cNvSpPr/>
          <p:nvPr/>
        </p:nvSpPr>
        <p:spPr>
          <a:xfrm>
            <a:off x="3763478" y="2945816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(greeting/meta)</a:t>
            </a:r>
            <a:endParaRPr lang="en-US" sz="750" dirty="0"/>
          </a:p>
        </p:txBody>
      </p:sp>
      <p:sp>
        <p:nvSpPr>
          <p:cNvPr id="21" name="Shape 18"/>
          <p:cNvSpPr/>
          <p:nvPr/>
        </p:nvSpPr>
        <p:spPr>
          <a:xfrm>
            <a:off x="5131067" y="2513640"/>
            <a:ext cx="914400" cy="0"/>
          </a:xfrm>
          <a:prstGeom prst="line">
            <a:avLst/>
          </a:prstGeom>
          <a:noFill/>
          <a:ln w="1524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22" name="Text 19"/>
          <p:cNvSpPr/>
          <p:nvPr/>
        </p:nvSpPr>
        <p:spPr>
          <a:xfrm>
            <a:off x="5313947" y="2175312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(substantive)</a:t>
            </a:r>
            <a:endParaRPr lang="en-US" sz="750" dirty="0"/>
          </a:p>
        </p:txBody>
      </p:sp>
      <p:sp>
        <p:nvSpPr>
          <p:cNvPr id="23" name="Shape 20"/>
          <p:cNvSpPr/>
          <p:nvPr/>
        </p:nvSpPr>
        <p:spPr>
          <a:xfrm>
            <a:off x="6045467" y="2193600"/>
            <a:ext cx="1188720" cy="420624"/>
          </a:xfrm>
          <a:prstGeom prst="roundRect">
            <a:avLst>
              <a:gd name="adj" fmla="val 13043"/>
            </a:avLst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24" name="Text 21"/>
          <p:cNvSpPr/>
          <p:nvPr/>
        </p:nvSpPr>
        <p:spPr>
          <a:xfrm>
            <a:off x="5997181" y="2256645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</a:t>
            </a:r>
            <a:endParaRPr lang="en-US" sz="800" dirty="0"/>
          </a:p>
        </p:txBody>
      </p:sp>
      <p:sp>
        <p:nvSpPr>
          <p:cNvPr id="25" name="Text 22"/>
          <p:cNvSpPr/>
          <p:nvPr/>
        </p:nvSpPr>
        <p:spPr>
          <a:xfrm>
            <a:off x="6045467" y="2431344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Chroma+BM25</a:t>
            </a:r>
            <a:endParaRPr lang="en-US" sz="700" dirty="0"/>
          </a:p>
        </p:txBody>
      </p:sp>
      <p:sp>
        <p:nvSpPr>
          <p:cNvPr id="26" name="Shape 23"/>
          <p:cNvSpPr/>
          <p:nvPr/>
        </p:nvSpPr>
        <p:spPr>
          <a:xfrm>
            <a:off x="6639827" y="2614224"/>
            <a:ext cx="0" cy="146304"/>
          </a:xfrm>
          <a:prstGeom prst="line">
            <a:avLst/>
          </a:prstGeom>
          <a:noFill/>
          <a:ln w="1524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27" name="Shape 24"/>
          <p:cNvSpPr/>
          <p:nvPr/>
        </p:nvSpPr>
        <p:spPr>
          <a:xfrm>
            <a:off x="6045467" y="2760528"/>
            <a:ext cx="1188720" cy="420624"/>
          </a:xfrm>
          <a:prstGeom prst="roundRect">
            <a:avLst>
              <a:gd name="adj" fmla="val 13043"/>
            </a:avLst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28" name="Text 25"/>
          <p:cNvSpPr/>
          <p:nvPr/>
        </p:nvSpPr>
        <p:spPr>
          <a:xfrm>
            <a:off x="6045467" y="2797104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RRF Fusion</a:t>
            </a:r>
            <a:endParaRPr lang="en-US" sz="800" dirty="0"/>
          </a:p>
        </p:txBody>
      </p:sp>
      <p:sp>
        <p:nvSpPr>
          <p:cNvPr id="29" name="Text 26"/>
          <p:cNvSpPr/>
          <p:nvPr/>
        </p:nvSpPr>
        <p:spPr>
          <a:xfrm>
            <a:off x="6045467" y="2998272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8 chunks</a:t>
            </a:r>
            <a:endParaRPr lang="en-US" sz="700" dirty="0"/>
          </a:p>
        </p:txBody>
      </p:sp>
      <p:sp>
        <p:nvSpPr>
          <p:cNvPr id="30" name="Shape 27"/>
          <p:cNvSpPr/>
          <p:nvPr/>
        </p:nvSpPr>
        <p:spPr>
          <a:xfrm>
            <a:off x="6639827" y="3181152"/>
            <a:ext cx="0" cy="146304"/>
          </a:xfrm>
          <a:prstGeom prst="line">
            <a:avLst/>
          </a:prstGeom>
          <a:noFill/>
          <a:ln w="1524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31" name="Shape 28"/>
          <p:cNvSpPr/>
          <p:nvPr/>
        </p:nvSpPr>
        <p:spPr>
          <a:xfrm>
            <a:off x="6045467" y="3327456"/>
            <a:ext cx="1188720" cy="420624"/>
          </a:xfrm>
          <a:prstGeom prst="roundRect">
            <a:avLst>
              <a:gd name="adj" fmla="val 13043"/>
            </a:avLst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32" name="Text 29"/>
          <p:cNvSpPr/>
          <p:nvPr/>
        </p:nvSpPr>
        <p:spPr>
          <a:xfrm>
            <a:off x="6045467" y="3364032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</a:t>
            </a:r>
            <a:endParaRPr lang="en-US" sz="800" dirty="0"/>
          </a:p>
        </p:txBody>
      </p:sp>
      <p:sp>
        <p:nvSpPr>
          <p:cNvPr id="33" name="Text 30"/>
          <p:cNvSpPr/>
          <p:nvPr/>
        </p:nvSpPr>
        <p:spPr>
          <a:xfrm>
            <a:off x="6045467" y="3565200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4B model</a:t>
            </a:r>
            <a:endParaRPr lang="en-US" sz="700" dirty="0"/>
          </a:p>
        </p:txBody>
      </p:sp>
      <p:sp>
        <p:nvSpPr>
          <p:cNvPr id="34" name="Shape 31"/>
          <p:cNvSpPr/>
          <p:nvPr/>
        </p:nvSpPr>
        <p:spPr>
          <a:xfrm>
            <a:off x="6639827" y="3748080"/>
            <a:ext cx="0" cy="146304"/>
          </a:xfrm>
          <a:prstGeom prst="line">
            <a:avLst/>
          </a:prstGeom>
          <a:noFill/>
          <a:ln w="1524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35" name="Shape 32"/>
          <p:cNvSpPr/>
          <p:nvPr/>
        </p:nvSpPr>
        <p:spPr>
          <a:xfrm>
            <a:off x="6045467" y="3894384"/>
            <a:ext cx="1188720" cy="420624"/>
          </a:xfrm>
          <a:prstGeom prst="roundRect">
            <a:avLst>
              <a:gd name="adj" fmla="val 13043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36" name="Text 33"/>
          <p:cNvSpPr/>
          <p:nvPr/>
        </p:nvSpPr>
        <p:spPr>
          <a:xfrm>
            <a:off x="6045467" y="3930960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</a:t>
            </a:r>
            <a:endParaRPr lang="en-US" sz="800" dirty="0"/>
          </a:p>
        </p:txBody>
      </p:sp>
      <p:sp>
        <p:nvSpPr>
          <p:cNvPr id="37" name="Text 34"/>
          <p:cNvSpPr/>
          <p:nvPr/>
        </p:nvSpPr>
        <p:spPr>
          <a:xfrm>
            <a:off x="6045467" y="4132128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4B fact-check</a:t>
            </a:r>
            <a:endParaRPr lang="en-US" sz="700" dirty="0"/>
          </a:p>
        </p:txBody>
      </p:sp>
      <p:sp>
        <p:nvSpPr>
          <p:cNvPr id="38" name="Text 35"/>
          <p:cNvSpPr/>
          <p:nvPr/>
        </p:nvSpPr>
        <p:spPr>
          <a:xfrm>
            <a:off x="7363325" y="409555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Grounded?</a:t>
            </a:r>
            <a:endParaRPr lang="en-US" sz="800" dirty="0"/>
          </a:p>
        </p:txBody>
      </p:sp>
      <p:sp>
        <p:nvSpPr>
          <p:cNvPr id="39" name="Shape 36"/>
          <p:cNvSpPr/>
          <p:nvPr/>
        </p:nvSpPr>
        <p:spPr>
          <a:xfrm>
            <a:off x="7336054" y="4369872"/>
            <a:ext cx="1188720" cy="329184"/>
          </a:xfrm>
          <a:prstGeom prst="roundRect">
            <a:avLst>
              <a:gd name="adj" fmla="val 16667"/>
            </a:avLst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40" name="Text 37"/>
          <p:cNvSpPr/>
          <p:nvPr/>
        </p:nvSpPr>
        <p:spPr>
          <a:xfrm>
            <a:off x="7336054" y="4443024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Yes → Final Answer</a:t>
            </a:r>
            <a:endParaRPr lang="en-US" sz="750" dirty="0"/>
          </a:p>
        </p:txBody>
      </p:sp>
      <p:sp>
        <p:nvSpPr>
          <p:cNvPr id="41" name="Shape 38"/>
          <p:cNvSpPr/>
          <p:nvPr/>
        </p:nvSpPr>
        <p:spPr>
          <a:xfrm>
            <a:off x="7336054" y="4772208"/>
            <a:ext cx="1188720" cy="329184"/>
          </a:xfrm>
          <a:prstGeom prst="roundRect">
            <a:avLst>
              <a:gd name="adj" fmla="val 16667"/>
            </a:avLst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42" name="Text 39"/>
          <p:cNvSpPr/>
          <p:nvPr/>
        </p:nvSpPr>
        <p:spPr>
          <a:xfrm>
            <a:off x="7336054" y="4845360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No → Retry once</a:t>
            </a:r>
            <a:endParaRPr lang="en-US" sz="750" dirty="0"/>
          </a:p>
        </p:txBody>
      </p:sp>
      <p:sp>
        <p:nvSpPr>
          <p:cNvPr id="43" name="Shape 40"/>
          <p:cNvSpPr/>
          <p:nvPr/>
        </p:nvSpPr>
        <p:spPr>
          <a:xfrm>
            <a:off x="7234187" y="4132128"/>
            <a:ext cx="45720" cy="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44" name="Shape 41"/>
          <p:cNvSpPr/>
          <p:nvPr/>
        </p:nvSpPr>
        <p:spPr>
          <a:xfrm flipH="1">
            <a:off x="7271887" y="4132128"/>
            <a:ext cx="8020" cy="80210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45" name="Shape 42"/>
          <p:cNvSpPr/>
          <p:nvPr/>
        </p:nvSpPr>
        <p:spPr>
          <a:xfrm>
            <a:off x="7234187" y="4132128"/>
            <a:ext cx="45720" cy="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46" name="Shape 42">
            <a:extLst>
              <a:ext uri="{FF2B5EF4-FFF2-40B4-BE49-F238E27FC236}">
                <a16:creationId xmlns:a16="http://schemas.microsoft.com/office/drawing/2014/main" id="{55CDC0CA-04E7-4358-B1DC-39F619162BE5}"/>
              </a:ext>
            </a:extLst>
          </p:cNvPr>
          <p:cNvSpPr/>
          <p:nvPr/>
        </p:nvSpPr>
        <p:spPr>
          <a:xfrm flipH="1">
            <a:off x="7279907" y="4533178"/>
            <a:ext cx="106680" cy="1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47" name="Shape 42">
            <a:extLst>
              <a:ext uri="{FF2B5EF4-FFF2-40B4-BE49-F238E27FC236}">
                <a16:creationId xmlns:a16="http://schemas.microsoft.com/office/drawing/2014/main" id="{9A1EB851-A191-8E5D-C604-E1FA84F893FA}"/>
              </a:ext>
            </a:extLst>
          </p:cNvPr>
          <p:cNvSpPr/>
          <p:nvPr/>
        </p:nvSpPr>
        <p:spPr>
          <a:xfrm flipH="1">
            <a:off x="7271887" y="4934229"/>
            <a:ext cx="106680" cy="1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3" name="Text 1"/>
          <p:cNvSpPr/>
          <p:nvPr/>
        </p:nvSpPr>
        <p:spPr>
          <a:xfrm>
            <a:off x="365760" y="73152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Hallucination Detection — The Anti-Hallucination Loop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5760" y="653556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i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→ Evaluate → Expand → Retry → Final Answer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274320" y="927876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Attempt 1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74320" y="1202196"/>
            <a:ext cx="2560320" cy="530352"/>
          </a:xfrm>
          <a:prstGeom prst="roundRect">
            <a:avLst>
              <a:gd name="adj" fmla="val 12069"/>
            </a:avLst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7" name="Text 5"/>
          <p:cNvSpPr/>
          <p:nvPr/>
        </p:nvSpPr>
        <p:spPr>
          <a:xfrm>
            <a:off x="274320" y="133021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 (top 15+15→8)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1554480" y="1732548"/>
            <a:ext cx="0" cy="219456"/>
          </a:xfrm>
          <a:prstGeom prst="line">
            <a:avLst/>
          </a:prstGeom>
          <a:noFill/>
          <a:ln w="1905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9" name="Shape 7"/>
          <p:cNvSpPr/>
          <p:nvPr/>
        </p:nvSpPr>
        <p:spPr>
          <a:xfrm>
            <a:off x="274320" y="1952004"/>
            <a:ext cx="2560320" cy="530352"/>
          </a:xfrm>
          <a:prstGeom prst="roundRect">
            <a:avLst>
              <a:gd name="adj" fmla="val 12069"/>
            </a:avLst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0" name="Text 8"/>
          <p:cNvSpPr/>
          <p:nvPr/>
        </p:nvSpPr>
        <p:spPr>
          <a:xfrm>
            <a:off x="274320" y="208002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 [4B]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1554480" y="2482356"/>
            <a:ext cx="0" cy="219456"/>
          </a:xfrm>
          <a:prstGeom prst="line">
            <a:avLst/>
          </a:prstGeom>
          <a:noFill/>
          <a:ln w="1905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2" name="Shape 10"/>
          <p:cNvSpPr/>
          <p:nvPr/>
        </p:nvSpPr>
        <p:spPr>
          <a:xfrm>
            <a:off x="274320" y="2701812"/>
            <a:ext cx="2560320" cy="530352"/>
          </a:xfrm>
          <a:prstGeom prst="roundRect">
            <a:avLst>
              <a:gd name="adj" fmla="val 12069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3" name="Text 11"/>
          <p:cNvSpPr/>
          <p:nvPr/>
        </p:nvSpPr>
        <p:spPr>
          <a:xfrm>
            <a:off x="274320" y="282982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 [4B]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055220" y="2518931"/>
            <a:ext cx="328059" cy="1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5" name="Shape 13"/>
          <p:cNvSpPr/>
          <p:nvPr/>
        </p:nvSpPr>
        <p:spPr>
          <a:xfrm>
            <a:off x="3383280" y="2299476"/>
            <a:ext cx="1737360" cy="530352"/>
          </a:xfrm>
          <a:prstGeom prst="roundRect">
            <a:avLst>
              <a:gd name="adj" fmla="val 12069"/>
            </a:avLst>
          </a:prstGeom>
          <a:solidFill>
            <a:srgbClr val="CA8A04"/>
          </a:solidFill>
          <a:ln w="12700">
            <a:solidFill>
              <a:srgbClr val="CA8A04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6" name="Text 14"/>
          <p:cNvSpPr/>
          <p:nvPr/>
        </p:nvSpPr>
        <p:spPr>
          <a:xfrm>
            <a:off x="3383280" y="2354340"/>
            <a:ext cx="1737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Grounded?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(strict check)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120640" y="2564652"/>
            <a:ext cx="457200" cy="0"/>
          </a:xfrm>
          <a:prstGeom prst="line">
            <a:avLst/>
          </a:prstGeom>
          <a:noFill/>
          <a:ln w="19050">
            <a:solidFill>
              <a:srgbClr val="15803D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8" name="Shape 16"/>
          <p:cNvSpPr/>
          <p:nvPr/>
        </p:nvSpPr>
        <p:spPr>
          <a:xfrm>
            <a:off x="5577840" y="2299476"/>
            <a:ext cx="2011680" cy="530352"/>
          </a:xfrm>
          <a:prstGeom prst="roundRect">
            <a:avLst>
              <a:gd name="adj" fmla="val 12069"/>
            </a:avLst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9" name="Text 17"/>
          <p:cNvSpPr/>
          <p:nvPr/>
        </p:nvSpPr>
        <p:spPr>
          <a:xfrm>
            <a:off x="5577840" y="242749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Grounded → Final Answer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5267424" y="236897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4047263" y="2936187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4251960" y="2829827"/>
            <a:ext cx="0" cy="385333"/>
          </a:xfrm>
          <a:prstGeom prst="line">
            <a:avLst/>
          </a:prstGeom>
          <a:noFill/>
          <a:ln w="19050">
            <a:solidFill>
              <a:srgbClr val="B91C1C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23" name="Text 21"/>
          <p:cNvSpPr/>
          <p:nvPr/>
        </p:nvSpPr>
        <p:spPr>
          <a:xfrm>
            <a:off x="2661384" y="2921268"/>
            <a:ext cx="5669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Attempt 2  (Retry — once only)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063240" y="3215482"/>
            <a:ext cx="1481328" cy="502920"/>
          </a:xfrm>
          <a:prstGeom prst="roundRect">
            <a:avLst>
              <a:gd name="adj" fmla="val 12727"/>
            </a:avLst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25" name="Text 23"/>
          <p:cNvSpPr/>
          <p:nvPr/>
        </p:nvSpPr>
        <p:spPr>
          <a:xfrm>
            <a:off x="3108960" y="3270346"/>
            <a:ext cx="13898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Query  [0.8B]</a:t>
            </a:r>
            <a:endParaRPr lang="en-US" sz="780" dirty="0"/>
          </a:p>
        </p:txBody>
      </p:sp>
      <p:sp>
        <p:nvSpPr>
          <p:cNvPr id="26" name="Shape 24"/>
          <p:cNvSpPr/>
          <p:nvPr/>
        </p:nvSpPr>
        <p:spPr>
          <a:xfrm>
            <a:off x="4544568" y="3471514"/>
            <a:ext cx="73152" cy="0"/>
          </a:xfrm>
          <a:prstGeom prst="line">
            <a:avLst/>
          </a:prstGeom>
          <a:noFill/>
          <a:ln w="1524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27" name="Shape 25"/>
          <p:cNvSpPr/>
          <p:nvPr/>
        </p:nvSpPr>
        <p:spPr>
          <a:xfrm>
            <a:off x="4617720" y="3215482"/>
            <a:ext cx="1481328" cy="502920"/>
          </a:xfrm>
          <a:prstGeom prst="roundRect">
            <a:avLst>
              <a:gd name="adj" fmla="val 12727"/>
            </a:avLst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28" name="Text 26"/>
          <p:cNvSpPr/>
          <p:nvPr/>
        </p:nvSpPr>
        <p:spPr>
          <a:xfrm>
            <a:off x="4663440" y="3270346"/>
            <a:ext cx="13898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 — Merged Docs (old+new)</a:t>
            </a:r>
            <a:endParaRPr lang="en-US" sz="780" dirty="0"/>
          </a:p>
        </p:txBody>
      </p:sp>
      <p:sp>
        <p:nvSpPr>
          <p:cNvPr id="29" name="Shape 27"/>
          <p:cNvSpPr/>
          <p:nvPr/>
        </p:nvSpPr>
        <p:spPr>
          <a:xfrm>
            <a:off x="6099048" y="3471514"/>
            <a:ext cx="73152" cy="0"/>
          </a:xfrm>
          <a:prstGeom prst="line">
            <a:avLst/>
          </a:prstGeom>
          <a:noFill/>
          <a:ln w="1524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30" name="Shape 28"/>
          <p:cNvSpPr/>
          <p:nvPr/>
        </p:nvSpPr>
        <p:spPr>
          <a:xfrm>
            <a:off x="6172200" y="3215482"/>
            <a:ext cx="1481328" cy="502920"/>
          </a:xfrm>
          <a:prstGeom prst="roundRect">
            <a:avLst>
              <a:gd name="adj" fmla="val 12727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31" name="Text 29"/>
          <p:cNvSpPr/>
          <p:nvPr/>
        </p:nvSpPr>
        <p:spPr>
          <a:xfrm>
            <a:off x="6217920" y="3270346"/>
            <a:ext cx="13898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+ Evaluate  [4B×2]</a:t>
            </a:r>
            <a:endParaRPr lang="en-US" sz="780" dirty="0"/>
          </a:p>
        </p:txBody>
      </p:sp>
      <p:sp>
        <p:nvSpPr>
          <p:cNvPr id="32" name="Shape 30"/>
          <p:cNvSpPr/>
          <p:nvPr/>
        </p:nvSpPr>
        <p:spPr>
          <a:xfrm>
            <a:off x="3063240" y="3855562"/>
            <a:ext cx="2377440" cy="438912"/>
          </a:xfrm>
          <a:prstGeom prst="roundRect">
            <a:avLst>
              <a:gd name="adj" fmla="val 14583"/>
            </a:avLst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33" name="Text 31"/>
          <p:cNvSpPr/>
          <p:nvPr/>
        </p:nvSpPr>
        <p:spPr>
          <a:xfrm>
            <a:off x="3063240" y="3947002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Still grounded → Clean Final Answer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5623560" y="3855562"/>
            <a:ext cx="2926080" cy="438912"/>
          </a:xfrm>
          <a:prstGeom prst="roundRect">
            <a:avLst>
              <a:gd name="adj" fmla="val 14583"/>
            </a:avLst>
          </a:prstGeom>
          <a:solidFill>
            <a:srgbClr val="9F1239"/>
          </a:solidFill>
          <a:ln w="12700">
            <a:solidFill>
              <a:srgbClr val="9F1239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35" name="Text 33"/>
          <p:cNvSpPr/>
          <p:nvPr/>
        </p:nvSpPr>
        <p:spPr>
          <a:xfrm>
            <a:off x="5623560" y="3947002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Still ungrounded → Answer + Disclaimer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264695" y="4522752"/>
            <a:ext cx="8641080" cy="493776"/>
          </a:xfrm>
          <a:prstGeom prst="roundRect">
            <a:avLst>
              <a:gd name="adj" fmla="val 14815"/>
            </a:avLst>
          </a:prstGeom>
          <a:solidFill>
            <a:srgbClr val="FFF7ED"/>
          </a:solidFill>
          <a:ln w="6350">
            <a:solidFill>
              <a:srgbClr val="D1D5DB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37" name="Shape 35"/>
          <p:cNvSpPr/>
          <p:nvPr/>
        </p:nvSpPr>
        <p:spPr>
          <a:xfrm>
            <a:off x="264695" y="4522752"/>
            <a:ext cx="8641080" cy="493776"/>
          </a:xfrm>
          <a:prstGeom prst="roundRect">
            <a:avLst>
              <a:gd name="adj" fmla="val 12963"/>
            </a:avLst>
          </a:prstGeom>
          <a:solidFill>
            <a:srgbClr val="FFF7ED"/>
          </a:solidFill>
          <a:ln w="10160">
            <a:solidFill>
              <a:srgbClr val="FED7AA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38" name="Text 36"/>
          <p:cNvSpPr/>
          <p:nvPr/>
        </p:nvSpPr>
        <p:spPr>
          <a:xfrm>
            <a:off x="447575" y="4586760"/>
            <a:ext cx="8321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design: on retry, old docs + new docs are MERGED before re-running RRF — the second attempt always has broader cumulative context than the first, never a fresh start.</a:t>
            </a:r>
            <a:endParaRPr lang="en-US" sz="900" dirty="0"/>
          </a:p>
        </p:txBody>
      </p:sp>
      <p:sp>
        <p:nvSpPr>
          <p:cNvPr id="39" name="Shape 9">
            <a:extLst>
              <a:ext uri="{FF2B5EF4-FFF2-40B4-BE49-F238E27FC236}">
                <a16:creationId xmlns:a16="http://schemas.microsoft.com/office/drawing/2014/main" id="{B2ACD001-87CF-194D-B7E5-F6E21FC65AA2}"/>
              </a:ext>
            </a:extLst>
          </p:cNvPr>
          <p:cNvSpPr/>
          <p:nvPr/>
        </p:nvSpPr>
        <p:spPr>
          <a:xfrm>
            <a:off x="3063240" y="2518931"/>
            <a:ext cx="0" cy="417255"/>
          </a:xfrm>
          <a:prstGeom prst="line">
            <a:avLst/>
          </a:prstGeom>
          <a:noFill/>
          <a:ln w="1905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40" name="Shape 12">
            <a:extLst>
              <a:ext uri="{FF2B5EF4-FFF2-40B4-BE49-F238E27FC236}">
                <a16:creationId xmlns:a16="http://schemas.microsoft.com/office/drawing/2014/main" id="{D19C2537-E01B-89CF-891D-B55AF5646191}"/>
              </a:ext>
            </a:extLst>
          </p:cNvPr>
          <p:cNvSpPr/>
          <p:nvPr/>
        </p:nvSpPr>
        <p:spPr>
          <a:xfrm flipV="1">
            <a:off x="2834640" y="2929610"/>
            <a:ext cx="236620" cy="6576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3" name="Text 1"/>
          <p:cNvSpPr/>
          <p:nvPr/>
        </p:nvSpPr>
        <p:spPr>
          <a:xfrm>
            <a:off x="365760" y="73152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History — Rolling Summarisation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5760" y="74980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i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Keeping the context window bounded across long conversations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411480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6" name="Shape 4"/>
          <p:cNvSpPr/>
          <p:nvPr/>
        </p:nvSpPr>
        <p:spPr>
          <a:xfrm>
            <a:off x="274320" y="1005840"/>
            <a:ext cx="4114800" cy="384048"/>
          </a:xfrm>
          <a:prstGeom prst="roundRect">
            <a:avLst>
              <a:gd name="adj" fmla="val 16667"/>
            </a:avLst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7" name="Text 5"/>
          <p:cNvSpPr/>
          <p:nvPr/>
        </p:nvSpPr>
        <p:spPr>
          <a:xfrm>
            <a:off x="411480" y="1078992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11480" y="1481328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LLMs have a fixed context window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11480" y="1810512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Send too many turns → tokens overflow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11480" y="2139696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Model stops seeing early conversation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11480" y="246888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Or: API call fails entirely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663440" y="1005840"/>
            <a:ext cx="416052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13" name="Shape 11"/>
          <p:cNvSpPr/>
          <p:nvPr/>
        </p:nvSpPr>
        <p:spPr>
          <a:xfrm>
            <a:off x="4663440" y="1005840"/>
            <a:ext cx="4160520" cy="384048"/>
          </a:xfrm>
          <a:prstGeom prst="roundRect">
            <a:avLst>
              <a:gd name="adj" fmla="val 16667"/>
            </a:avLst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4" name="Text 12"/>
          <p:cNvSpPr/>
          <p:nvPr/>
        </p:nvSpPr>
        <p:spPr>
          <a:xfrm>
            <a:off x="4800600" y="1078992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Solution — Rolling Summarisation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800600" y="1481328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Full history always shown in the UI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800600" y="1810512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Every 10 turns: 0.8B compresses oldest 10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800600" y="2139696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Summary carried forward as system context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800600" y="246888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LLM sees: [summary] + [recent turns] only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20040" y="28846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 over time: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20040" y="3163504"/>
            <a:ext cx="1554480" cy="1325880"/>
          </a:xfrm>
          <a:prstGeom prst="roundRect">
            <a:avLst>
              <a:gd name="adj" fmla="val 5517"/>
            </a:avLst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21" name="Text 19"/>
          <p:cNvSpPr/>
          <p:nvPr/>
        </p:nvSpPr>
        <p:spPr>
          <a:xfrm>
            <a:off x="320040" y="3236656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Turns 1–10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93192" y="3547552"/>
            <a:ext cx="140817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D0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turns sent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D0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LLM context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1874520" y="3821872"/>
            <a:ext cx="164592" cy="0"/>
          </a:xfrm>
          <a:prstGeom prst="line">
            <a:avLst/>
          </a:prstGeom>
          <a:noFill/>
          <a:ln w="1524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24" name="Shape 22"/>
          <p:cNvSpPr/>
          <p:nvPr/>
        </p:nvSpPr>
        <p:spPr>
          <a:xfrm>
            <a:off x="2039112" y="3163504"/>
            <a:ext cx="1554480" cy="1325880"/>
          </a:xfrm>
          <a:prstGeom prst="roundRect">
            <a:avLst>
              <a:gd name="adj" fmla="val 5517"/>
            </a:avLst>
          </a:prstGeom>
          <a:solidFill>
            <a:srgbClr val="CA8A04"/>
          </a:solidFill>
          <a:ln w="12700">
            <a:solidFill>
              <a:srgbClr val="CA8A04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25" name="Text 23"/>
          <p:cNvSpPr/>
          <p:nvPr/>
        </p:nvSpPr>
        <p:spPr>
          <a:xfrm>
            <a:off x="2039112" y="3236656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10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2112264" y="3547552"/>
            <a:ext cx="140817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D0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0.8B summarises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D0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turns 1–10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3593592" y="3821872"/>
            <a:ext cx="164592" cy="0"/>
          </a:xfrm>
          <a:prstGeom prst="line">
            <a:avLst/>
          </a:prstGeom>
          <a:noFill/>
          <a:ln w="1524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28" name="Shape 26"/>
          <p:cNvSpPr/>
          <p:nvPr/>
        </p:nvSpPr>
        <p:spPr>
          <a:xfrm>
            <a:off x="3758184" y="3163504"/>
            <a:ext cx="1554480" cy="1325880"/>
          </a:xfrm>
          <a:prstGeom prst="roundRect">
            <a:avLst>
              <a:gd name="adj" fmla="val 5517"/>
            </a:avLst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29" name="Text 27"/>
          <p:cNvSpPr/>
          <p:nvPr/>
        </p:nvSpPr>
        <p:spPr>
          <a:xfrm>
            <a:off x="3758184" y="3236656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Turns 11–20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3831336" y="3547552"/>
            <a:ext cx="140817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D0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[Summary] + turns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D0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11–20 sent to LLM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5312664" y="3821872"/>
            <a:ext cx="164592" cy="0"/>
          </a:xfrm>
          <a:prstGeom prst="line">
            <a:avLst/>
          </a:prstGeom>
          <a:noFill/>
          <a:ln w="1524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32" name="Shape 30"/>
          <p:cNvSpPr/>
          <p:nvPr/>
        </p:nvSpPr>
        <p:spPr>
          <a:xfrm>
            <a:off x="5477256" y="3163504"/>
            <a:ext cx="1554480" cy="1325880"/>
          </a:xfrm>
          <a:prstGeom prst="roundRect">
            <a:avLst>
              <a:gd name="adj" fmla="val 5517"/>
            </a:avLst>
          </a:prstGeom>
          <a:solidFill>
            <a:srgbClr val="CA8A04"/>
          </a:solidFill>
          <a:ln w="12700">
            <a:solidFill>
              <a:srgbClr val="CA8A04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33" name="Text 31"/>
          <p:cNvSpPr/>
          <p:nvPr/>
        </p:nvSpPr>
        <p:spPr>
          <a:xfrm>
            <a:off x="5477256" y="3236656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20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5550408" y="3547552"/>
            <a:ext cx="140817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D0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0.8B appends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D0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summary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7031736" y="3821872"/>
            <a:ext cx="164592" cy="0"/>
          </a:xfrm>
          <a:prstGeom prst="line">
            <a:avLst/>
          </a:prstGeom>
          <a:noFill/>
          <a:ln w="1524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36" name="Shape 34"/>
          <p:cNvSpPr/>
          <p:nvPr/>
        </p:nvSpPr>
        <p:spPr>
          <a:xfrm>
            <a:off x="7196328" y="3163504"/>
            <a:ext cx="1554480" cy="1325880"/>
          </a:xfrm>
          <a:prstGeom prst="roundRect">
            <a:avLst>
              <a:gd name="adj" fmla="val 5517"/>
            </a:avLst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37" name="Text 35"/>
          <p:cNvSpPr/>
          <p:nvPr/>
        </p:nvSpPr>
        <p:spPr>
          <a:xfrm>
            <a:off x="7196328" y="3236656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21+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7269480" y="3547552"/>
            <a:ext cx="140817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D0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[Running summary]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D0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latest turns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274320" y="4644832"/>
            <a:ext cx="8641080" cy="438912"/>
          </a:xfrm>
          <a:prstGeom prst="roundRect">
            <a:avLst>
              <a:gd name="adj" fmla="val 16667"/>
            </a:avLst>
          </a:prstGeom>
          <a:solidFill>
            <a:srgbClr val="F0FDF4"/>
          </a:solidFill>
          <a:ln w="6350">
            <a:solidFill>
              <a:srgbClr val="D1D5DB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40" name="Shape 38"/>
          <p:cNvSpPr/>
          <p:nvPr/>
        </p:nvSpPr>
        <p:spPr>
          <a:xfrm>
            <a:off x="274320" y="4644832"/>
            <a:ext cx="8641080" cy="438912"/>
          </a:xfrm>
          <a:prstGeom prst="roundRect">
            <a:avLst>
              <a:gd name="adj" fmla="val 14583"/>
            </a:avLst>
          </a:prstGeom>
          <a:solidFill>
            <a:srgbClr val="F0FDF4"/>
          </a:solidFill>
          <a:ln w="10160">
            <a:solidFill>
              <a:srgbClr val="BBF7D0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41" name="Text 39"/>
          <p:cNvSpPr/>
          <p:nvPr/>
        </p:nvSpPr>
        <p:spPr>
          <a:xfrm>
            <a:off x="457200" y="4717984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user always sees the full chat history. The LLM always receives a bounded context. These are two separate concerns handled independently.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3" name="Text 1"/>
          <p:cNvSpPr/>
          <p:nvPr/>
        </p:nvSpPr>
        <p:spPr>
          <a:xfrm>
            <a:off x="365760" y="73152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Infrastructure, Logging &amp; Production Fixes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5760" y="74980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i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telemetry, ngrok bug, PEP 8, Streamlit UI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256032" y="1005840"/>
            <a:ext cx="4251960" cy="1901952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6" name="Shape 4"/>
          <p:cNvSpPr/>
          <p:nvPr/>
        </p:nvSpPr>
        <p:spPr>
          <a:xfrm>
            <a:off x="256032" y="1005840"/>
            <a:ext cx="4251960" cy="365760"/>
          </a:xfrm>
          <a:prstGeom prst="roundRect">
            <a:avLst>
              <a:gd name="adj" fmla="val 17500"/>
            </a:avLst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9184" y="1060704"/>
            <a:ext cx="256032" cy="25603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1078992"/>
            <a:ext cx="37673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Logging — 4 Normalised Tables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365760" y="1463040"/>
            <a:ext cx="404164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sessions — unique session per user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365760" y="1755648"/>
            <a:ext cx="404164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queries — raw query + final response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365760" y="2048256"/>
            <a:ext cx="404164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pipeline_steps — each LangGraph node + timestamp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365760" y="2340864"/>
            <a:ext cx="404164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step_details — key-value state mutations per node</a:t>
            </a:r>
            <a:endParaRPr lang="en-US" sz="800" dirty="0"/>
          </a:p>
        </p:txBody>
      </p:sp>
      <p:sp>
        <p:nvSpPr>
          <p:cNvPr id="13" name="Text 10"/>
          <p:cNvSpPr/>
          <p:nvPr/>
        </p:nvSpPr>
        <p:spPr>
          <a:xfrm>
            <a:off x="365760" y="2633472"/>
            <a:ext cx="404164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Captured via pipeline.stream(mode='updates') — no business logic touched</a:t>
            </a:r>
            <a:endParaRPr lang="en-US" sz="800" dirty="0"/>
          </a:p>
        </p:txBody>
      </p:sp>
      <p:sp>
        <p:nvSpPr>
          <p:cNvPr id="14" name="Shape 11"/>
          <p:cNvSpPr/>
          <p:nvPr/>
        </p:nvSpPr>
        <p:spPr>
          <a:xfrm>
            <a:off x="4645152" y="1005840"/>
            <a:ext cx="4251960" cy="1901952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15" name="Shape 12"/>
          <p:cNvSpPr/>
          <p:nvPr/>
        </p:nvSpPr>
        <p:spPr>
          <a:xfrm>
            <a:off x="4645152" y="1005840"/>
            <a:ext cx="4251960" cy="365760"/>
          </a:xfrm>
          <a:prstGeom prst="roundRect">
            <a:avLst>
              <a:gd name="adj" fmla="val 17500"/>
            </a:avLst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18304" y="1060704"/>
            <a:ext cx="256032" cy="256032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5047488" y="1078992"/>
            <a:ext cx="37673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Bug Fix — ngrok Free Tier</a:t>
            </a:r>
            <a:endParaRPr lang="en-US" sz="850" dirty="0"/>
          </a:p>
        </p:txBody>
      </p:sp>
      <p:sp>
        <p:nvSpPr>
          <p:cNvPr id="18" name="Text 14"/>
          <p:cNvSpPr/>
          <p:nvPr/>
        </p:nvSpPr>
        <p:spPr>
          <a:xfrm>
            <a:off x="4754880" y="1463040"/>
            <a:ext cx="404164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10+ minute hangs with no error message</a:t>
            </a:r>
            <a:endParaRPr lang="en-US" sz="800" dirty="0"/>
          </a:p>
        </p:txBody>
      </p:sp>
      <p:sp>
        <p:nvSpPr>
          <p:cNvPr id="19" name="Text 15"/>
          <p:cNvSpPr/>
          <p:nvPr/>
        </p:nvSpPr>
        <p:spPr>
          <a:xfrm>
            <a:off x="4754880" y="1755648"/>
            <a:ext cx="404164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Root cause: ngrok returning HTML browser-warning instead of JSON</a:t>
            </a:r>
            <a:endParaRPr lang="en-US" sz="800" dirty="0"/>
          </a:p>
        </p:txBody>
      </p:sp>
      <p:sp>
        <p:nvSpPr>
          <p:cNvPr id="20" name="Text 16"/>
          <p:cNvSpPr/>
          <p:nvPr/>
        </p:nvSpPr>
        <p:spPr>
          <a:xfrm>
            <a:off x="4754880" y="2048256"/>
            <a:ext cx="404164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All LLM API calls were silently failing</a:t>
            </a:r>
            <a:endParaRPr lang="en-US" sz="800" dirty="0"/>
          </a:p>
        </p:txBody>
      </p:sp>
      <p:sp>
        <p:nvSpPr>
          <p:cNvPr id="21" name="Text 17"/>
          <p:cNvSpPr/>
          <p:nvPr/>
        </p:nvSpPr>
        <p:spPr>
          <a:xfrm>
            <a:off x="4754880" y="2340864"/>
            <a:ext cx="404164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Fix: inject header  ngrok-skip-browser-warning: true  on every ChatOpenAI client</a:t>
            </a:r>
            <a:endParaRPr lang="en-US" sz="800" dirty="0"/>
          </a:p>
        </p:txBody>
      </p:sp>
      <p:sp>
        <p:nvSpPr>
          <p:cNvPr id="22" name="Text 18"/>
          <p:cNvSpPr/>
          <p:nvPr/>
        </p:nvSpPr>
        <p:spPr>
          <a:xfrm>
            <a:off x="4754880" y="2633472"/>
            <a:ext cx="404164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Lesson: always inspect raw HTTP responses when debugging LLM latency</a:t>
            </a:r>
            <a:endParaRPr lang="en-US" sz="800" dirty="0"/>
          </a:p>
        </p:txBody>
      </p:sp>
      <p:sp>
        <p:nvSpPr>
          <p:cNvPr id="23" name="Shape 19"/>
          <p:cNvSpPr/>
          <p:nvPr/>
        </p:nvSpPr>
        <p:spPr>
          <a:xfrm>
            <a:off x="256032" y="3063240"/>
            <a:ext cx="4251960" cy="1901952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24" name="Shape 20"/>
          <p:cNvSpPr/>
          <p:nvPr/>
        </p:nvSpPr>
        <p:spPr>
          <a:xfrm>
            <a:off x="256032" y="3063240"/>
            <a:ext cx="4251960" cy="365760"/>
          </a:xfrm>
          <a:prstGeom prst="roundRect">
            <a:avLst>
              <a:gd name="adj" fmla="val 17500"/>
            </a:avLst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pic>
        <p:nvPicPr>
          <p:cNvPr id="2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9184" y="3118104"/>
            <a:ext cx="256032" cy="256032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658368" y="3136392"/>
            <a:ext cx="37673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PEP 8 Compliance</a:t>
            </a:r>
            <a:endParaRPr lang="en-US" sz="850" dirty="0"/>
          </a:p>
        </p:txBody>
      </p:sp>
      <p:sp>
        <p:nvSpPr>
          <p:cNvPr id="27" name="Text 22"/>
          <p:cNvSpPr/>
          <p:nvPr/>
        </p:nvSpPr>
        <p:spPr>
          <a:xfrm>
            <a:off x="365760" y="3520440"/>
            <a:ext cx="404164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autopep8 for auto-formatting</a:t>
            </a:r>
            <a:endParaRPr lang="en-US" sz="800" dirty="0"/>
          </a:p>
        </p:txBody>
      </p:sp>
      <p:sp>
        <p:nvSpPr>
          <p:cNvPr id="28" name="Text 23"/>
          <p:cNvSpPr/>
          <p:nvPr/>
        </p:nvSpPr>
        <p:spPr>
          <a:xfrm>
            <a:off x="365760" y="3813048"/>
            <a:ext cx="404164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flake8 for linting + unused import detection</a:t>
            </a:r>
            <a:endParaRPr lang="en-US" sz="800" dirty="0"/>
          </a:p>
        </p:txBody>
      </p:sp>
      <p:sp>
        <p:nvSpPr>
          <p:cNvPr id="29" name="Text 24"/>
          <p:cNvSpPr/>
          <p:nvPr/>
        </p:nvSpPr>
        <p:spPr>
          <a:xfrm>
            <a:off x="365760" y="4105656"/>
            <a:ext cx="404164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Consistent indentation, spacing, naming</a:t>
            </a:r>
            <a:endParaRPr lang="en-US" sz="800" dirty="0"/>
          </a:p>
        </p:txBody>
      </p:sp>
      <p:sp>
        <p:nvSpPr>
          <p:cNvPr id="30" name="Text 25"/>
          <p:cNvSpPr/>
          <p:nvPr/>
        </p:nvSpPr>
        <p:spPr>
          <a:xfrm>
            <a:off x="365760" y="4398264"/>
            <a:ext cx="404164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Codebase readable by any Python engineer without context</a:t>
            </a:r>
            <a:endParaRPr lang="en-US" sz="800" dirty="0"/>
          </a:p>
        </p:txBody>
      </p:sp>
      <p:sp>
        <p:nvSpPr>
          <p:cNvPr id="31" name="Shape 26"/>
          <p:cNvSpPr/>
          <p:nvPr/>
        </p:nvSpPr>
        <p:spPr>
          <a:xfrm>
            <a:off x="4645152" y="3063240"/>
            <a:ext cx="4251960" cy="1901952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32" name="Shape 27"/>
          <p:cNvSpPr/>
          <p:nvPr/>
        </p:nvSpPr>
        <p:spPr>
          <a:xfrm>
            <a:off x="4645152" y="3063240"/>
            <a:ext cx="4251960" cy="365760"/>
          </a:xfrm>
          <a:prstGeom prst="roundRect">
            <a:avLst>
              <a:gd name="adj" fmla="val 17500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pic>
        <p:nvPicPr>
          <p:cNvPr id="3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18304" y="3118104"/>
            <a:ext cx="256032" cy="256032"/>
          </a:xfrm>
          <a:prstGeom prst="rect">
            <a:avLst/>
          </a:prstGeom>
        </p:spPr>
      </p:pic>
      <p:sp>
        <p:nvSpPr>
          <p:cNvPr id="34" name="Text 28"/>
          <p:cNvSpPr/>
          <p:nvPr/>
        </p:nvSpPr>
        <p:spPr>
          <a:xfrm>
            <a:off x="5047488" y="3136392"/>
            <a:ext cx="37673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UI Highlights</a:t>
            </a:r>
            <a:endParaRPr lang="en-US" sz="850" dirty="0"/>
          </a:p>
        </p:txBody>
      </p:sp>
      <p:sp>
        <p:nvSpPr>
          <p:cNvPr id="35" name="Text 29"/>
          <p:cNvSpPr/>
          <p:nvPr/>
        </p:nvSpPr>
        <p:spPr>
          <a:xfrm>
            <a:off x="4754880" y="3520440"/>
            <a:ext cx="404164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Dark-mode chat interface</a:t>
            </a:r>
            <a:endParaRPr lang="en-US" sz="800" dirty="0"/>
          </a:p>
        </p:txBody>
      </p:sp>
      <p:sp>
        <p:nvSpPr>
          <p:cNvPr id="36" name="Text 30"/>
          <p:cNvSpPr/>
          <p:nvPr/>
        </p:nvSpPr>
        <p:spPr>
          <a:xfrm>
            <a:off x="4754880" y="3813048"/>
            <a:ext cx="404164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Pipeline trace expander per message (route, rewritten query, sources, grounding)</a:t>
            </a:r>
            <a:endParaRPr lang="en-US" sz="800" dirty="0"/>
          </a:p>
        </p:txBody>
      </p:sp>
      <p:sp>
        <p:nvSpPr>
          <p:cNvPr id="37" name="Text 31"/>
          <p:cNvSpPr/>
          <p:nvPr/>
        </p:nvSpPr>
        <p:spPr>
          <a:xfrm>
            <a:off x="4754880" y="4105656"/>
            <a:ext cx="404164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Startup guard: checks chroma_db/ exists before loading</a:t>
            </a:r>
            <a:endParaRPr lang="en-US" sz="800" dirty="0"/>
          </a:p>
        </p:txBody>
      </p:sp>
      <p:sp>
        <p:nvSpPr>
          <p:cNvPr id="38" name="Text 32"/>
          <p:cNvSpPr/>
          <p:nvPr/>
        </p:nvSpPr>
        <p:spPr>
          <a:xfrm>
            <a:off x="4754880" y="4398264"/>
            <a:ext cx="404164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@st.cache_resource for pipeline + retriever (loaded once)</a:t>
            </a:r>
            <a:endParaRPr lang="en-US" sz="800" dirty="0"/>
          </a:p>
        </p:txBody>
      </p:sp>
      <p:sp>
        <p:nvSpPr>
          <p:cNvPr id="39" name="Text 33"/>
          <p:cNvSpPr/>
          <p:nvPr/>
        </p:nvSpPr>
        <p:spPr>
          <a:xfrm>
            <a:off x="4754880" y="4690872"/>
            <a:ext cx="404164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Clear chat button resets session_state and ChatHistory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Takeaways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84124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A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decisions, lessons, and what makes this system production-ready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1170432"/>
            <a:ext cx="8229600" cy="0"/>
          </a:xfrm>
          <a:prstGeom prst="line">
            <a:avLst/>
          </a:prstGeom>
          <a:noFill/>
          <a:ln w="1905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5" name="Text 3"/>
          <p:cNvSpPr/>
          <p:nvPr/>
        </p:nvSpPr>
        <p:spPr>
          <a:xfrm>
            <a:off x="457200" y="1335024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D737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051560" y="1353312"/>
            <a:ext cx="7589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hallucination is real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1051560" y="1591056"/>
            <a:ext cx="7589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retrieval model surfacing the right chunk doesn't guarantee a grounded answer. The generation step can still fabricate. An explicit evaluator node is necessary, not optional.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57200" y="2084832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D737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051560" y="2103120"/>
            <a:ext cx="7589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&gt; Dense or Sparse alone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1051560" y="2340864"/>
            <a:ext cx="7589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ChromaDB finds meaning; BM25 finds keywords. RRF with k=60 rewards consistency across both methods. The top-8 fused results outperform top-8 from either system independently.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57200" y="283464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D737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051560" y="2852928"/>
            <a:ext cx="7589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 quality determines RAG quality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1051560" y="3090672"/>
            <a:ext cx="7589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800-token chunks with 150-token overlap preserve complete arguments from dense nonfiction. Smaller chunks fragment ideas; larger chunks dilute the embedding vector.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57200" y="3584448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D737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051560" y="3602736"/>
            <a:ext cx="7589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Cumulative retry, not fresh retry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1051560" y="3840480"/>
            <a:ext cx="7589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retry, merging old and new retrieved docs before re-fusing gives the model a broader context window. A fresh retrieval with only the expanded query may miss what the first attempt found.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57200" y="4334256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D737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051560" y="4352544"/>
            <a:ext cx="7589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 bugs hide in plain sight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1051560" y="4590288"/>
            <a:ext cx="7589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10+ minute hang with no visible error traced to ngrok silently returning HTML instead of JSON. Always inspect raw HTTP responses before assuming the LLM is slow.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852863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11887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A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20040" y="2240280"/>
            <a:ext cx="2788920" cy="2423160"/>
          </a:xfrm>
          <a:prstGeom prst="roundRect">
            <a:avLst>
              <a:gd name="adj" fmla="val 3019"/>
            </a:avLst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6" name="Shape 4"/>
          <p:cNvSpPr/>
          <p:nvPr/>
        </p:nvSpPr>
        <p:spPr>
          <a:xfrm>
            <a:off x="320040" y="2240280"/>
            <a:ext cx="2788920" cy="384048"/>
          </a:xfrm>
          <a:prstGeom prst="roundRect">
            <a:avLst>
              <a:gd name="adj" fmla="val 16667"/>
            </a:avLst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7" name="Text 5"/>
          <p:cNvSpPr/>
          <p:nvPr/>
        </p:nvSpPr>
        <p:spPr>
          <a:xfrm>
            <a:off x="429768" y="2313432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2724912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LangGraph · Python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457200" y="3163824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Qwen3.5 (0.8B / 2B / 4B)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57200" y="3602736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ChromaDB · BM25 · BGE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57200" y="4041648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</a:t>
            </a:r>
            <a:r>
              <a:rPr lang="en-US" sz="95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227832" y="2240280"/>
            <a:ext cx="2788920" cy="2423160"/>
          </a:xfrm>
          <a:prstGeom prst="roundRect">
            <a:avLst>
              <a:gd name="adj" fmla="val 3019"/>
            </a:avLst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13" name="Shape 11"/>
          <p:cNvSpPr/>
          <p:nvPr/>
        </p:nvSpPr>
        <p:spPr>
          <a:xfrm>
            <a:off x="3227832" y="2240280"/>
            <a:ext cx="2788920" cy="384048"/>
          </a:xfrm>
          <a:prstGeom prst="roundRect">
            <a:avLst>
              <a:gd name="adj" fmla="val 16667"/>
            </a:avLst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4" name="Text 12"/>
          <p:cNvSpPr/>
          <p:nvPr/>
        </p:nvSpPr>
        <p:spPr>
          <a:xfrm>
            <a:off x="3337560" y="2313432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Figures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364992" y="2724912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11 books ingested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3364992" y="3163824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800 tok chunks / 150 overlap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3364992" y="3602736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Top 15 each → fused top 8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3364992" y="4041648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Max 2 RAG attempts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6135624" y="2240280"/>
            <a:ext cx="2788920" cy="2423160"/>
          </a:xfrm>
          <a:prstGeom prst="roundRect">
            <a:avLst>
              <a:gd name="adj" fmla="val 3019"/>
            </a:avLst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20" name="Shape 18"/>
          <p:cNvSpPr/>
          <p:nvPr/>
        </p:nvSpPr>
        <p:spPr>
          <a:xfrm>
            <a:off x="6135624" y="2240280"/>
            <a:ext cx="2788920" cy="384048"/>
          </a:xfrm>
          <a:prstGeom prst="roundRect">
            <a:avLst>
              <a:gd name="adj" fmla="val 16667"/>
            </a:avLst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21" name="Text 19"/>
          <p:cNvSpPr/>
          <p:nvPr/>
        </p:nvSpPr>
        <p:spPr>
          <a:xfrm>
            <a:off x="6245352" y="2313432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Served by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272784" y="2724912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Ollama (OpenAI-compat.)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6272784" y="3163824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ngrok tunnel → GPU server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6272784" y="3602736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All models local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6272784" y="4041648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CPU embeddings, GPU LLMs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320040" y="4846320"/>
            <a:ext cx="8503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during internship at Rapids AI  ·  Day 2–3  ·  Guided by Aizaz (Lead GenAI Engineer)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374</TotalTime>
  <Words>1731</Words>
  <Application>Microsoft Macintosh PowerPoint</Application>
  <PresentationFormat>On-screen Show (16:9)</PresentationFormat>
  <Paragraphs>302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BookRAG — Agentic RAG Chatbot</dc:title>
  <dc:subject>PptxGenJS Presentation</dc:subject>
  <dc:creator>PptxGenJS</dc:creator>
  <cp:lastModifiedBy>Muhammad Saad Faran Malik</cp:lastModifiedBy>
  <cp:revision>6</cp:revision>
  <dcterms:created xsi:type="dcterms:W3CDTF">2026-06-29T10:28:03Z</dcterms:created>
  <dcterms:modified xsi:type="dcterms:W3CDTF">2026-06-29T16:45:53Z</dcterms:modified>
</cp:coreProperties>
</file>