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EAEEF9"/>
                </a:solidFill>
                <a:latin typeface="Calibri"/>
              </a:defRPr>
            </a:pPr>
            <a:r>
              <a:rPr sz="1200" b="0" i="0" u="none" strike="noStrike">
                <a:solidFill>
                  <a:srgbClr val="EAEEF9"/>
                </a:solidFill>
                <a:latin typeface="Calibri"/>
              </a:rPr>
              <a:t>Corpus composition — 39,953 chunks from 6 legal sources</a:t>
            </a:r>
          </a:p>
        </c:rich>
      </c:tx>
      <c:overlay val="0"/>
    </c:title>
    <c:autoTitleDeleted val="0"/>
    <c:plotArea>
      <c:layout/>
      <c:barChart>
        <c:barDir val="bar"/>
        <c:grouping val="clustered"/>
        <c:varyColors val="0"/>
        <c:ser>
          <c:idx val="0"/>
          <c:order val="0"/>
          <c:tx>
            <c:strRef>
              <c:f>Sheet1!$B$1</c:f>
              <c:strCache>
                <c:ptCount val="1"/>
                <c:pt idx="0">
                  <c:v>Indexed chunks</c:v>
                </c:pt>
              </c:strCache>
            </c:strRef>
          </c:tx>
          <c:spPr>
            <a:solidFill>
              <a:srgbClr val="22D3EE"/>
            </a:solidFill>
            <a:effectLst/>
          </c:spPr>
          <c:invertIfNegative val="0"/>
          <c:dLbls>
            <c:numFmt formatCode="#,##0" sourceLinked="0"/>
            <c:spPr>
              <a:noFill/>
              <a:ln>
                <a:noFill/>
              </a:ln>
              <a:effectLst/>
            </c:spPr>
            <c:txPr>
              <a:bodyPr/>
              <a:lstStyle/>
              <a:p>
                <a:pPr>
                  <a:defRPr sz="900" b="0" i="0" u="none" strike="noStrike">
                    <a:solidFill>
                      <a:srgbClr val="EAEEF9"/>
                    </a:solidFill>
                    <a:latin typeface="Calibri"/>
                  </a:defRPr>
                </a:pPr>
                <a:endParaRPr lang="en-PK"/>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SEC filings</c:v>
                </c:pt>
                <c:pt idx="1">
                  <c:v>World Bank</c:v>
                </c:pt>
                <c:pt idx="2">
                  <c:v>arXiv q-fin</c:v>
                </c:pt>
                <c:pt idx="3">
                  <c:v>Annual reports</c:v>
                </c:pt>
                <c:pt idx="4">
                  <c:v>Public domain</c:v>
                </c:pt>
                <c:pt idx="5">
                  <c:v>Books</c:v>
                </c:pt>
              </c:strCache>
            </c:strRef>
          </c:cat>
          <c:val>
            <c:numRef>
              <c:f>Sheet1!$B$2:$B$7</c:f>
              <c:numCache>
                <c:formatCode>General</c:formatCode>
                <c:ptCount val="6"/>
                <c:pt idx="0">
                  <c:v>19996</c:v>
                </c:pt>
                <c:pt idx="1">
                  <c:v>5291</c:v>
                </c:pt>
                <c:pt idx="2">
                  <c:v>4929</c:v>
                </c:pt>
                <c:pt idx="3">
                  <c:v>3647</c:v>
                </c:pt>
                <c:pt idx="4">
                  <c:v>3572</c:v>
                </c:pt>
                <c:pt idx="5">
                  <c:v>2518</c:v>
                </c:pt>
              </c:numCache>
            </c:numRef>
          </c:val>
          <c:extLst>
            <c:ext xmlns:c16="http://schemas.microsoft.com/office/drawing/2014/chart" uri="{C3380CC4-5D6E-409C-BE32-E72D297353CC}">
              <c16:uniqueId val="{00000000-0AE8-6D41-B702-B51E417103C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97A3BF"/>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161E33"/>
        </a:solidFill>
        <a:ln>
          <a:noFill/>
        </a:ln>
        <a:effectLst/>
      </c:spPr>
    </c:plotArea>
    <c:plotVisOnly val="1"/>
    <c:dispBlanksAs val="span"/>
    <c:showDLblsOverMax val="1"/>
  </c:chart>
  <c:spPr>
    <a:solidFill>
      <a:srgbClr val="161E33"/>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00" b="0" i="0" u="none" strike="noStrike">
                <a:solidFill>
                  <a:srgbClr val="EAEEF9"/>
                </a:solidFill>
                <a:latin typeface="Calibri"/>
              </a:defRPr>
            </a:pPr>
            <a:r>
              <a:rPr sz="1200" b="0" i="0" u="none" strike="noStrike">
                <a:solidFill>
                  <a:srgbClr val="EAEEF9"/>
                </a:solidFill>
                <a:latin typeface="Calibri"/>
              </a:rPr>
              <a:t>Token cost per answer  −48%</a:t>
            </a:r>
          </a:p>
        </c:rich>
      </c:tx>
      <c:overlay val="0"/>
    </c:title>
    <c:autoTitleDeleted val="0"/>
    <c:plotArea>
      <c:layout/>
      <c:barChart>
        <c:barDir val="col"/>
        <c:grouping val="clustered"/>
        <c:varyColors val="0"/>
        <c:ser>
          <c:idx val="0"/>
          <c:order val="0"/>
          <c:tx>
            <c:strRef>
              <c:f>Sheet1!$B$1</c:f>
              <c:strCache>
                <c:ptCount val="1"/>
                <c:pt idx="0">
                  <c:v>Tokens per RAG turn</c:v>
                </c:pt>
              </c:strCache>
            </c:strRef>
          </c:tx>
          <c:spPr>
            <a:solidFill>
              <a:srgbClr val="FBBF24"/>
            </a:solidFill>
            <a:effectLst/>
          </c:spPr>
          <c:invertIfNegative val="0"/>
          <c:dPt>
            <c:idx val="0"/>
            <c:invertIfNegative val="0"/>
            <c:bubble3D val="0"/>
            <c:extLst>
              <c:ext xmlns:c16="http://schemas.microsoft.com/office/drawing/2014/chart" uri="{C3380CC4-5D6E-409C-BE32-E72D297353CC}">
                <c16:uniqueId val="{00000001-610F-4E4F-BC56-59B807888CA1}"/>
              </c:ext>
            </c:extLst>
          </c:dPt>
          <c:dPt>
            <c:idx val="1"/>
            <c:invertIfNegative val="0"/>
            <c:bubble3D val="0"/>
            <c:spPr>
              <a:solidFill>
                <a:srgbClr val="34D399"/>
              </a:solidFill>
              <a:effectLst/>
            </c:spPr>
            <c:extLst>
              <c:ext xmlns:c16="http://schemas.microsoft.com/office/drawing/2014/chart" uri="{C3380CC4-5D6E-409C-BE32-E72D297353CC}">
                <c16:uniqueId val="{00000003-610F-4E4F-BC56-59B807888CA1}"/>
              </c:ext>
            </c:extLst>
          </c:dPt>
          <c:dLbls>
            <c:numFmt formatCode="#,##0" sourceLinked="0"/>
            <c:spPr>
              <a:noFill/>
              <a:ln>
                <a:noFill/>
              </a:ln>
              <a:effectLst/>
            </c:spPr>
            <c:txPr>
              <a:bodyPr/>
              <a:lstStyle/>
              <a:p>
                <a:pPr>
                  <a:defRPr sz="1000" b="0" i="0" u="none" strike="noStrike">
                    <a:solidFill>
                      <a:srgbClr val="EAEEF9"/>
                    </a:solidFill>
                    <a:latin typeface="Calibri"/>
                  </a:defRPr>
                </a:pPr>
                <a:endParaRPr lang="en-PK"/>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Before</c:v>
                </c:pt>
                <c:pt idx="1">
                  <c:v>After</c:v>
                </c:pt>
              </c:strCache>
            </c:strRef>
          </c:cat>
          <c:val>
            <c:numRef>
              <c:f>Sheet1!$B$2:$B$3</c:f>
              <c:numCache>
                <c:formatCode>General</c:formatCode>
                <c:ptCount val="2"/>
                <c:pt idx="0">
                  <c:v>5702</c:v>
                </c:pt>
                <c:pt idx="1">
                  <c:v>2972</c:v>
                </c:pt>
              </c:numCache>
            </c:numRef>
          </c:val>
          <c:extLst>
            <c:ext xmlns:c16="http://schemas.microsoft.com/office/drawing/2014/chart" uri="{C3380CC4-5D6E-409C-BE32-E72D297353CC}">
              <c16:uniqueId val="{00000004-610F-4E4F-BC56-59B807888CA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7A3BF"/>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161E33"/>
        </a:solidFill>
        <a:ln>
          <a:noFill/>
        </a:ln>
        <a:effectLst/>
      </c:spPr>
    </c:plotArea>
    <c:plotVisOnly val="1"/>
    <c:dispBlanksAs val="span"/>
    <c:showDLblsOverMax val="1"/>
  </c:chart>
  <c:spPr>
    <a:solidFill>
      <a:srgbClr val="161E33"/>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7398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BookRAG answers finance questions from a 206-document multimodal corpus. The guiding principle is zero hallucination: every claim is retrieved, fact-checked by a separate model call, and cited. The whole pipeline is visualised live in the UI. It runs free on Groq + local embeddings, no GPU.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services. The frontend talks directly to the API because dev proxies buffer Server-Sent Events. Auth is its own microservice issuing JWTs; the core API verifies them locally with a shared secret so there's no per-request hop. Data layer is SQLAlchemy-driven: Postgres+pgvector via docker-compose in production, SQLite locally with zero setup — identical models.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A LangGraph state machine routes the query, retrieves with BOTH dense and sparse search fused by Reciprocal Rank Fusion, generates strictly from excerpts, then an INDEPENDENT model call fact-checks every claim. On failure it expands the query and retries once with cumulative context. Finally cross-reference asks whether the sources actually agree. If it still can't verify, it says so rather than guessing.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router decides whether a question needs the knowledge base, a live tool, or the web. Tools use free keyless APIs — verified live: NVIDIA at $203.53, 500 USD to 437.67 EUR. Internet search is keyless DuckDuckGo with inline citations. MCP is a real client speaking stdio JSON-RPC against the standard mcpServers config, so any third-party MCP server's tools are auto-discovered. And projects let a user upload their own PDFs, images (OCR'd) or audio (transcribed) — answers then cite the uploaded file, clickable.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is multi-tenant: every chat, project and vector is scoped by user_id or project_id. event_logs captures every major step with a correlation_id, latency and payload — that's the team-lead requirement, but I turned it into a live dashboard showing route distribution, per-node latency, grounding rate and MCP calls. The chart shows the corpus: 39,953 chunks, dominated by SEC filings, all from free, legal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ones. The 8GB laptop swap-death taught me to bound memory by design. The SSE CRLF bug — one delimiter — made the entire live UI look broken. SEC XHTML tables needed per-tag parsing. And the MCP argument bug taught me tool accuracy is schema-text quality. Finally, the token work: I measured that Groq's free tier is 6,000 tokens per MINUTE and that bare calls are 350ms — so slowness was throttling, not my code. Halving tokens per turn doubled throughput.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640080" y="1051560"/>
            <a:ext cx="7315200" cy="868680"/>
          </a:xfrm>
          <a:prstGeom prst="rect">
            <a:avLst/>
          </a:prstGeom>
          <a:noFill/>
          <a:ln/>
        </p:spPr>
        <p:txBody>
          <a:bodyPr wrap="square" lIns="0" tIns="0" rIns="0" bIns="0" rtlCol="0" anchor="ctr"/>
          <a:lstStyle/>
          <a:p>
            <a:pPr marL="0" indent="0">
              <a:buNone/>
            </a:pPr>
            <a:r>
              <a:rPr lang="en-US" sz="6000" b="1" dirty="0">
                <a:solidFill>
                  <a:srgbClr val="EAEEF9"/>
                </a:solidFill>
                <a:latin typeface="Calibri" pitchFamily="34" charset="0"/>
                <a:ea typeface="Calibri" pitchFamily="34" charset="-122"/>
                <a:cs typeface="Calibri" pitchFamily="34" charset="-120"/>
              </a:rPr>
              <a:t>Book</a:t>
            </a:r>
            <a:r>
              <a:rPr lang="en-US" sz="6000" b="1" dirty="0">
                <a:solidFill>
                  <a:srgbClr val="22D3EE"/>
                </a:solidFill>
                <a:latin typeface="Calibri" pitchFamily="34" charset="0"/>
                <a:ea typeface="Calibri" pitchFamily="34" charset="-122"/>
                <a:cs typeface="Calibri" pitchFamily="34" charset="-120"/>
              </a:rPr>
              <a:t>RAG</a:t>
            </a:r>
            <a:endParaRPr lang="en-US" sz="6000" dirty="0"/>
          </a:p>
        </p:txBody>
      </p:sp>
      <p:sp>
        <p:nvSpPr>
          <p:cNvPr id="3" name="Text 1"/>
          <p:cNvSpPr/>
          <p:nvPr/>
        </p:nvSpPr>
        <p:spPr>
          <a:xfrm>
            <a:off x="658368" y="1901952"/>
            <a:ext cx="8229600" cy="365760"/>
          </a:xfrm>
          <a:prstGeom prst="rect">
            <a:avLst/>
          </a:prstGeom>
          <a:noFill/>
          <a:ln/>
        </p:spPr>
        <p:txBody>
          <a:bodyPr wrap="square" lIns="0" tIns="0" rIns="0" bIns="0" rtlCol="0" anchor="ctr"/>
          <a:lstStyle/>
          <a:p>
            <a:pPr marL="0" indent="0">
              <a:buNone/>
            </a:pPr>
            <a:r>
              <a:rPr lang="en-US" sz="2100" dirty="0">
                <a:solidFill>
                  <a:srgbClr val="EAEEF9"/>
                </a:solidFill>
                <a:latin typeface="Calibri" pitchFamily="34" charset="0"/>
                <a:ea typeface="Calibri" pitchFamily="34" charset="-122"/>
                <a:cs typeface="Calibri" pitchFamily="34" charset="-120"/>
              </a:rPr>
              <a:t>Agentic, grounded RAG over a multimodal finance corpus</a:t>
            </a:r>
            <a:endParaRPr lang="en-US" sz="2100" dirty="0"/>
          </a:p>
        </p:txBody>
      </p:sp>
      <p:sp>
        <p:nvSpPr>
          <p:cNvPr id="4" name="Text 2"/>
          <p:cNvSpPr/>
          <p:nvPr/>
        </p:nvSpPr>
        <p:spPr>
          <a:xfrm>
            <a:off x="658368" y="2331720"/>
            <a:ext cx="7498080" cy="731520"/>
          </a:xfrm>
          <a:prstGeom prst="rect">
            <a:avLst/>
          </a:prstGeom>
          <a:noFill/>
          <a:ln/>
        </p:spPr>
        <p:txBody>
          <a:bodyPr wrap="square" lIns="0" tIns="0" rIns="0" bIns="0" rtlCol="0" anchor="ctr"/>
          <a:lstStyle/>
          <a:p>
            <a:pPr marL="0" indent="0">
              <a:lnSpc>
                <a:spcPts val="2000"/>
              </a:lnSpc>
              <a:buNone/>
            </a:pPr>
            <a:r>
              <a:rPr lang="en-US" sz="1400" dirty="0">
                <a:solidFill>
                  <a:srgbClr val="97A3BF"/>
                </a:solidFill>
                <a:latin typeface="Calibri" pitchFamily="34" charset="0"/>
                <a:ea typeface="Calibri" pitchFamily="34" charset="-122"/>
                <a:cs typeface="Calibri" pitchFamily="34" charset="-120"/>
              </a:rPr>
              <a:t>Answers must be retrieved, fact-checked and cited — or the system says so.</a:t>
            </a:r>
            <a:endParaRPr lang="en-US" sz="1400" dirty="0"/>
          </a:p>
          <a:p>
            <a:pPr marL="0" indent="0">
              <a:lnSpc>
                <a:spcPts val="2000"/>
              </a:lnSpc>
              <a:buNone/>
            </a:pPr>
            <a:r>
              <a:rPr lang="en-US" sz="1400" dirty="0">
                <a:solidFill>
                  <a:srgbClr val="97A3BF"/>
                </a:solidFill>
                <a:latin typeface="Calibri" pitchFamily="34" charset="0"/>
                <a:ea typeface="Calibri" pitchFamily="34" charset="-122"/>
                <a:cs typeface="Calibri" pitchFamily="34" charset="-120"/>
              </a:rPr>
              <a:t>Every pipeline step is visualised live.</a:t>
            </a:r>
            <a:endParaRPr lang="en-US" sz="1400" dirty="0"/>
          </a:p>
        </p:txBody>
      </p:sp>
      <p:sp>
        <p:nvSpPr>
          <p:cNvPr id="5" name="Shape 3"/>
          <p:cNvSpPr/>
          <p:nvPr/>
        </p:nvSpPr>
        <p:spPr>
          <a:xfrm>
            <a:off x="640080" y="3429000"/>
            <a:ext cx="2560320" cy="1143000"/>
          </a:xfrm>
          <a:prstGeom prst="roundRect">
            <a:avLst>
              <a:gd name="adj" fmla="val 6400"/>
            </a:avLst>
          </a:prstGeom>
          <a:solidFill>
            <a:srgbClr val="161E33"/>
          </a:solidFill>
          <a:ln w="12700">
            <a:solidFill>
              <a:srgbClr val="1E2740"/>
            </a:solidFill>
            <a:prstDash val="solid"/>
          </a:ln>
        </p:spPr>
        <p:txBody>
          <a:bodyPr/>
          <a:lstStyle/>
          <a:p>
            <a:endParaRPr lang="en-PK"/>
          </a:p>
        </p:txBody>
      </p:sp>
      <p:sp>
        <p:nvSpPr>
          <p:cNvPr id="6" name="Text 4"/>
          <p:cNvSpPr/>
          <p:nvPr/>
        </p:nvSpPr>
        <p:spPr>
          <a:xfrm>
            <a:off x="804672" y="3566160"/>
            <a:ext cx="2286000" cy="502920"/>
          </a:xfrm>
          <a:prstGeom prst="rect">
            <a:avLst/>
          </a:prstGeom>
          <a:noFill/>
          <a:ln/>
        </p:spPr>
        <p:txBody>
          <a:bodyPr wrap="square" lIns="0" tIns="0" rIns="0" bIns="0" rtlCol="0" anchor="ctr"/>
          <a:lstStyle/>
          <a:p>
            <a:pPr marL="0" indent="0">
              <a:buNone/>
            </a:pPr>
            <a:r>
              <a:rPr lang="en-US" sz="3000" b="1" dirty="0">
                <a:solidFill>
                  <a:srgbClr val="22D3EE"/>
                </a:solidFill>
                <a:latin typeface="Calibri" pitchFamily="34" charset="0"/>
                <a:ea typeface="Calibri" pitchFamily="34" charset="-122"/>
                <a:cs typeface="Calibri" pitchFamily="34" charset="-120"/>
              </a:rPr>
              <a:t>206</a:t>
            </a:r>
            <a:endParaRPr lang="en-US" sz="3000" dirty="0"/>
          </a:p>
        </p:txBody>
      </p:sp>
      <p:sp>
        <p:nvSpPr>
          <p:cNvPr id="7" name="Text 5"/>
          <p:cNvSpPr/>
          <p:nvPr/>
        </p:nvSpPr>
        <p:spPr>
          <a:xfrm>
            <a:off x="804672" y="4069080"/>
            <a:ext cx="2286000" cy="274320"/>
          </a:xfrm>
          <a:prstGeom prst="rect">
            <a:avLst/>
          </a:prstGeom>
          <a:noFill/>
          <a:ln/>
        </p:spPr>
        <p:txBody>
          <a:bodyPr wrap="square" lIns="0" tIns="0" rIns="0" bIns="0" rtlCol="0" anchor="ctr"/>
          <a:lstStyle/>
          <a:p>
            <a:pPr marL="0" indent="0">
              <a:buNone/>
            </a:pPr>
            <a:r>
              <a:rPr lang="en-US" sz="1200" dirty="0">
                <a:solidFill>
                  <a:srgbClr val="97A3BF"/>
                </a:solidFill>
                <a:latin typeface="Calibri" pitchFamily="34" charset="0"/>
                <a:ea typeface="Calibri" pitchFamily="34" charset="-122"/>
                <a:cs typeface="Calibri" pitchFamily="34" charset="-120"/>
              </a:rPr>
              <a:t>documents</a:t>
            </a:r>
            <a:endParaRPr lang="en-US" sz="1200" dirty="0"/>
          </a:p>
        </p:txBody>
      </p:sp>
      <p:sp>
        <p:nvSpPr>
          <p:cNvPr id="8" name="Shape 6"/>
          <p:cNvSpPr/>
          <p:nvPr/>
        </p:nvSpPr>
        <p:spPr>
          <a:xfrm>
            <a:off x="3429000" y="3429000"/>
            <a:ext cx="2560320" cy="1143000"/>
          </a:xfrm>
          <a:prstGeom prst="roundRect">
            <a:avLst>
              <a:gd name="adj" fmla="val 6400"/>
            </a:avLst>
          </a:prstGeom>
          <a:solidFill>
            <a:srgbClr val="161E33"/>
          </a:solidFill>
          <a:ln w="12700">
            <a:solidFill>
              <a:srgbClr val="1E2740"/>
            </a:solidFill>
            <a:prstDash val="solid"/>
          </a:ln>
        </p:spPr>
        <p:txBody>
          <a:bodyPr/>
          <a:lstStyle/>
          <a:p>
            <a:endParaRPr lang="en-PK"/>
          </a:p>
        </p:txBody>
      </p:sp>
      <p:sp>
        <p:nvSpPr>
          <p:cNvPr id="9" name="Text 7"/>
          <p:cNvSpPr/>
          <p:nvPr/>
        </p:nvSpPr>
        <p:spPr>
          <a:xfrm>
            <a:off x="3593592" y="3566160"/>
            <a:ext cx="2286000" cy="502920"/>
          </a:xfrm>
          <a:prstGeom prst="rect">
            <a:avLst/>
          </a:prstGeom>
          <a:noFill/>
          <a:ln/>
        </p:spPr>
        <p:txBody>
          <a:bodyPr wrap="square" lIns="0" tIns="0" rIns="0" bIns="0" rtlCol="0" anchor="ctr"/>
          <a:lstStyle/>
          <a:p>
            <a:pPr marL="0" indent="0">
              <a:buNone/>
            </a:pPr>
            <a:r>
              <a:rPr lang="en-US" sz="3000" b="1" dirty="0">
                <a:solidFill>
                  <a:srgbClr val="6366F1"/>
                </a:solidFill>
                <a:latin typeface="Calibri" pitchFamily="34" charset="0"/>
                <a:ea typeface="Calibri" pitchFamily="34" charset="-122"/>
                <a:cs typeface="Calibri" pitchFamily="34" charset="-120"/>
              </a:rPr>
              <a:t>39,953</a:t>
            </a:r>
            <a:endParaRPr lang="en-US" sz="3000" dirty="0"/>
          </a:p>
        </p:txBody>
      </p:sp>
      <p:sp>
        <p:nvSpPr>
          <p:cNvPr id="10" name="Text 8"/>
          <p:cNvSpPr/>
          <p:nvPr/>
        </p:nvSpPr>
        <p:spPr>
          <a:xfrm>
            <a:off x="3593592" y="4069080"/>
            <a:ext cx="2286000" cy="274320"/>
          </a:xfrm>
          <a:prstGeom prst="rect">
            <a:avLst/>
          </a:prstGeom>
          <a:noFill/>
          <a:ln/>
        </p:spPr>
        <p:txBody>
          <a:bodyPr wrap="square" lIns="0" tIns="0" rIns="0" bIns="0" rtlCol="0" anchor="ctr"/>
          <a:lstStyle/>
          <a:p>
            <a:pPr marL="0" indent="0">
              <a:buNone/>
            </a:pPr>
            <a:r>
              <a:rPr lang="en-US" sz="1200" dirty="0">
                <a:solidFill>
                  <a:srgbClr val="97A3BF"/>
                </a:solidFill>
                <a:latin typeface="Calibri" pitchFamily="34" charset="0"/>
                <a:ea typeface="Calibri" pitchFamily="34" charset="-122"/>
                <a:cs typeface="Calibri" pitchFamily="34" charset="-120"/>
              </a:rPr>
              <a:t>indexed chunks</a:t>
            </a:r>
            <a:endParaRPr lang="en-US" sz="1200" dirty="0"/>
          </a:p>
        </p:txBody>
      </p:sp>
      <p:sp>
        <p:nvSpPr>
          <p:cNvPr id="11" name="Shape 9"/>
          <p:cNvSpPr/>
          <p:nvPr/>
        </p:nvSpPr>
        <p:spPr>
          <a:xfrm>
            <a:off x="6217920" y="3429000"/>
            <a:ext cx="2560320" cy="1143000"/>
          </a:xfrm>
          <a:prstGeom prst="roundRect">
            <a:avLst>
              <a:gd name="adj" fmla="val 6400"/>
            </a:avLst>
          </a:prstGeom>
          <a:solidFill>
            <a:srgbClr val="161E33"/>
          </a:solidFill>
          <a:ln w="12700">
            <a:solidFill>
              <a:srgbClr val="1E2740"/>
            </a:solidFill>
            <a:prstDash val="solid"/>
          </a:ln>
        </p:spPr>
        <p:txBody>
          <a:bodyPr/>
          <a:lstStyle/>
          <a:p>
            <a:endParaRPr lang="en-PK"/>
          </a:p>
        </p:txBody>
      </p:sp>
      <p:sp>
        <p:nvSpPr>
          <p:cNvPr id="12" name="Text 10"/>
          <p:cNvSpPr/>
          <p:nvPr/>
        </p:nvSpPr>
        <p:spPr>
          <a:xfrm>
            <a:off x="6382512" y="3566160"/>
            <a:ext cx="2286000" cy="502920"/>
          </a:xfrm>
          <a:prstGeom prst="rect">
            <a:avLst/>
          </a:prstGeom>
          <a:noFill/>
          <a:ln/>
        </p:spPr>
        <p:txBody>
          <a:bodyPr wrap="square" lIns="0" tIns="0" rIns="0" bIns="0" rtlCol="0" anchor="ctr"/>
          <a:lstStyle/>
          <a:p>
            <a:pPr marL="0" indent="0">
              <a:buNone/>
            </a:pPr>
            <a:r>
              <a:rPr lang="en-US" sz="3000" b="1" dirty="0">
                <a:solidFill>
                  <a:srgbClr val="E879F9"/>
                </a:solidFill>
                <a:latin typeface="Calibri" pitchFamily="34" charset="0"/>
                <a:ea typeface="Calibri" pitchFamily="34" charset="-122"/>
                <a:cs typeface="Calibri" pitchFamily="34" charset="-120"/>
              </a:rPr>
              <a:t>5,805</a:t>
            </a:r>
            <a:endParaRPr lang="en-US" sz="3000" dirty="0"/>
          </a:p>
        </p:txBody>
      </p:sp>
      <p:sp>
        <p:nvSpPr>
          <p:cNvPr id="13" name="Text 11"/>
          <p:cNvSpPr/>
          <p:nvPr/>
        </p:nvSpPr>
        <p:spPr>
          <a:xfrm>
            <a:off x="6382512" y="4069080"/>
            <a:ext cx="2286000" cy="274320"/>
          </a:xfrm>
          <a:prstGeom prst="rect">
            <a:avLst/>
          </a:prstGeom>
          <a:noFill/>
          <a:ln/>
        </p:spPr>
        <p:txBody>
          <a:bodyPr wrap="square" lIns="0" tIns="0" rIns="0" bIns="0" rtlCol="0" anchor="ctr"/>
          <a:lstStyle/>
          <a:p>
            <a:pPr marL="0" indent="0">
              <a:buNone/>
            </a:pPr>
            <a:r>
              <a:rPr lang="en-US" sz="1200" dirty="0">
                <a:solidFill>
                  <a:srgbClr val="97A3BF"/>
                </a:solidFill>
                <a:latin typeface="Calibri" pitchFamily="34" charset="0"/>
                <a:ea typeface="Calibri" pitchFamily="34" charset="-122"/>
                <a:cs typeface="Calibri" pitchFamily="34" charset="-120"/>
              </a:rPr>
              <a:t>financial tables</a:t>
            </a:r>
            <a:endParaRPr lang="en-US" sz="1200" dirty="0"/>
          </a:p>
        </p:txBody>
      </p:sp>
      <p:sp>
        <p:nvSpPr>
          <p:cNvPr id="14" name="Shape 12"/>
          <p:cNvSpPr/>
          <p:nvPr/>
        </p:nvSpPr>
        <p:spPr>
          <a:xfrm>
            <a:off x="9006840" y="3429000"/>
            <a:ext cx="2560320" cy="1143000"/>
          </a:xfrm>
          <a:prstGeom prst="roundRect">
            <a:avLst>
              <a:gd name="adj" fmla="val 6400"/>
            </a:avLst>
          </a:prstGeom>
          <a:solidFill>
            <a:srgbClr val="161E33"/>
          </a:solidFill>
          <a:ln w="12700">
            <a:solidFill>
              <a:srgbClr val="1E2740"/>
            </a:solidFill>
            <a:prstDash val="solid"/>
          </a:ln>
        </p:spPr>
        <p:txBody>
          <a:bodyPr/>
          <a:lstStyle/>
          <a:p>
            <a:endParaRPr lang="en-PK"/>
          </a:p>
        </p:txBody>
      </p:sp>
      <p:sp>
        <p:nvSpPr>
          <p:cNvPr id="15" name="Text 13"/>
          <p:cNvSpPr/>
          <p:nvPr/>
        </p:nvSpPr>
        <p:spPr>
          <a:xfrm>
            <a:off x="9171432" y="3566160"/>
            <a:ext cx="2286000" cy="502920"/>
          </a:xfrm>
          <a:prstGeom prst="rect">
            <a:avLst/>
          </a:prstGeom>
          <a:noFill/>
          <a:ln/>
        </p:spPr>
        <p:txBody>
          <a:bodyPr wrap="square" lIns="0" tIns="0" rIns="0" bIns="0" rtlCol="0" anchor="ctr"/>
          <a:lstStyle/>
          <a:p>
            <a:pPr marL="0" indent="0">
              <a:buNone/>
            </a:pPr>
            <a:r>
              <a:rPr lang="en-US" sz="3000" b="1" dirty="0">
                <a:solidFill>
                  <a:srgbClr val="34D399"/>
                </a:solidFill>
                <a:latin typeface="Calibri" pitchFamily="34" charset="0"/>
                <a:ea typeface="Calibri" pitchFamily="34" charset="-122"/>
                <a:cs typeface="Calibri" pitchFamily="34" charset="-120"/>
              </a:rPr>
              <a:t>10</a:t>
            </a:r>
            <a:endParaRPr lang="en-US" sz="3000" dirty="0"/>
          </a:p>
        </p:txBody>
      </p:sp>
      <p:sp>
        <p:nvSpPr>
          <p:cNvPr id="16" name="Text 14"/>
          <p:cNvSpPr/>
          <p:nvPr/>
        </p:nvSpPr>
        <p:spPr>
          <a:xfrm>
            <a:off x="9171432" y="4069080"/>
            <a:ext cx="2286000" cy="274320"/>
          </a:xfrm>
          <a:prstGeom prst="rect">
            <a:avLst/>
          </a:prstGeom>
          <a:noFill/>
          <a:ln/>
        </p:spPr>
        <p:txBody>
          <a:bodyPr wrap="square" lIns="0" tIns="0" rIns="0" bIns="0" rtlCol="0" anchor="ctr"/>
          <a:lstStyle/>
          <a:p>
            <a:pPr marL="0" indent="0">
              <a:buNone/>
            </a:pPr>
            <a:r>
              <a:rPr lang="en-US" sz="1200" dirty="0">
                <a:solidFill>
                  <a:srgbClr val="97A3BF"/>
                </a:solidFill>
                <a:latin typeface="Calibri" pitchFamily="34" charset="0"/>
                <a:ea typeface="Calibri" pitchFamily="34" charset="-122"/>
                <a:cs typeface="Calibri" pitchFamily="34" charset="-120"/>
              </a:rPr>
              <a:t>pipeline nodes</a:t>
            </a:r>
            <a:endParaRPr lang="en-US" sz="1200" dirty="0"/>
          </a:p>
        </p:txBody>
      </p:sp>
      <p:sp>
        <p:nvSpPr>
          <p:cNvPr id="17" name="Text 15"/>
          <p:cNvSpPr/>
          <p:nvPr/>
        </p:nvSpPr>
        <p:spPr>
          <a:xfrm>
            <a:off x="658368" y="4937760"/>
            <a:ext cx="10058400" cy="274320"/>
          </a:xfrm>
          <a:prstGeom prst="rect">
            <a:avLst/>
          </a:prstGeom>
          <a:noFill/>
          <a:ln/>
        </p:spPr>
        <p:txBody>
          <a:bodyPr wrap="square" lIns="0" tIns="0" rIns="0" bIns="0" rtlCol="0" anchor="ctr"/>
          <a:lstStyle/>
          <a:p>
            <a:pPr marL="0" indent="0">
              <a:buNone/>
            </a:pPr>
            <a:r>
              <a:rPr lang="en-US" sz="1200" i="1" dirty="0">
                <a:solidFill>
                  <a:srgbClr val="97A3BF"/>
                </a:solidFill>
                <a:latin typeface="Calibri" pitchFamily="34" charset="0"/>
                <a:ea typeface="Calibri" pitchFamily="34" charset="-122"/>
                <a:cs typeface="Calibri" pitchFamily="34" charset="-120"/>
              </a:rPr>
              <a:t>Saad Faran  ·  Domain: Finance / Business / Wealth  ·  Runs free, no GPU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lIns="0" tIns="0" rIns="0" bIns="0" rtlCol="0" anchor="ctr"/>
          <a:lstStyle/>
          <a:p>
            <a:pPr marL="0" indent="0">
              <a:buNone/>
            </a:pPr>
            <a:r>
              <a:rPr lang="en-US" sz="3400" b="1" dirty="0">
                <a:solidFill>
                  <a:srgbClr val="EAEEF9"/>
                </a:solidFill>
                <a:latin typeface="Calibri" pitchFamily="34" charset="0"/>
                <a:ea typeface="Calibri" pitchFamily="34" charset="-122"/>
                <a:cs typeface="Calibri" pitchFamily="34" charset="-120"/>
              </a:rPr>
              <a:t>System architecture</a:t>
            </a:r>
            <a:endParaRPr lang="en-US" sz="3400" dirty="0"/>
          </a:p>
        </p:txBody>
      </p:sp>
      <p:sp>
        <p:nvSpPr>
          <p:cNvPr id="3" name="Text 1"/>
          <p:cNvSpPr/>
          <p:nvPr/>
        </p:nvSpPr>
        <p:spPr>
          <a:xfrm>
            <a:off x="548640" y="932688"/>
            <a:ext cx="11064240" cy="292608"/>
          </a:xfrm>
          <a:prstGeom prst="rect">
            <a:avLst/>
          </a:prstGeom>
          <a:noFill/>
          <a:ln/>
        </p:spPr>
        <p:txBody>
          <a:bodyPr wrap="square" lIns="0" tIns="0" rIns="0" bIns="0" rtlCol="0" anchor="ctr"/>
          <a:lstStyle/>
          <a:p>
            <a:pPr marL="0" indent="0">
              <a:buNone/>
            </a:pPr>
            <a:r>
              <a:rPr lang="en-US" sz="1350" dirty="0">
                <a:solidFill>
                  <a:srgbClr val="97A3BF"/>
                </a:solidFill>
                <a:latin typeface="Calibri" pitchFamily="34" charset="0"/>
                <a:ea typeface="Calibri" pitchFamily="34" charset="-122"/>
                <a:cs typeface="Calibri" pitchFamily="34" charset="-120"/>
              </a:rPr>
              <a:t>Four services, JWT between them, streamed over SSE — right-sized, not over-engineered</a:t>
            </a:r>
            <a:endParaRPr lang="en-US" sz="1350" dirty="0"/>
          </a:p>
        </p:txBody>
      </p:sp>
      <p:sp>
        <p:nvSpPr>
          <p:cNvPr id="4" name="Shape 2"/>
          <p:cNvSpPr/>
          <p:nvPr/>
        </p:nvSpPr>
        <p:spPr>
          <a:xfrm>
            <a:off x="548640" y="1463040"/>
            <a:ext cx="7498080" cy="1133856"/>
          </a:xfrm>
          <a:prstGeom prst="roundRect">
            <a:avLst>
              <a:gd name="adj" fmla="val 6452"/>
            </a:avLst>
          </a:prstGeom>
          <a:solidFill>
            <a:srgbClr val="161E33"/>
          </a:solidFill>
          <a:ln w="12700">
            <a:solidFill>
              <a:srgbClr val="1E2740"/>
            </a:solidFill>
            <a:prstDash val="solid"/>
          </a:ln>
        </p:spPr>
        <p:txBody>
          <a:bodyPr/>
          <a:lstStyle/>
          <a:p>
            <a:endParaRPr lang="en-PK"/>
          </a:p>
        </p:txBody>
      </p:sp>
      <p:sp>
        <p:nvSpPr>
          <p:cNvPr id="5" name="Shape 3"/>
          <p:cNvSpPr/>
          <p:nvPr/>
        </p:nvSpPr>
        <p:spPr>
          <a:xfrm>
            <a:off x="777240" y="1609344"/>
            <a:ext cx="310896" cy="310896"/>
          </a:xfrm>
          <a:prstGeom prst="ellipse">
            <a:avLst/>
          </a:prstGeom>
          <a:solidFill>
            <a:srgbClr val="6366F1"/>
          </a:solidFill>
          <a:ln w="12700">
            <a:solidFill>
              <a:srgbClr val="6366F1"/>
            </a:solidFill>
            <a:prstDash val="solid"/>
          </a:ln>
        </p:spPr>
        <p:txBody>
          <a:bodyPr/>
          <a:lstStyle/>
          <a:p>
            <a:endParaRPr lang="en-PK"/>
          </a:p>
        </p:txBody>
      </p:sp>
      <p:sp>
        <p:nvSpPr>
          <p:cNvPr id="6" name="Text 4"/>
          <p:cNvSpPr/>
          <p:nvPr/>
        </p:nvSpPr>
        <p:spPr>
          <a:xfrm>
            <a:off x="777240" y="1609344"/>
            <a:ext cx="310896" cy="310896"/>
          </a:xfrm>
          <a:prstGeom prst="rect">
            <a:avLst/>
          </a:prstGeom>
          <a:noFill/>
          <a:ln/>
        </p:spPr>
        <p:txBody>
          <a:bodyPr wrap="square" lIns="0" tIns="0" rIns="0" bIns="0" rtlCol="0" anchor="ctr"/>
          <a:lstStyle/>
          <a:p>
            <a:pPr marL="0" indent="0" algn="ctr">
              <a:buNone/>
            </a:pPr>
            <a:r>
              <a:rPr lang="en-US" sz="1200" b="1" dirty="0">
                <a:solidFill>
                  <a:srgbClr val="0B1020"/>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34440" y="1591056"/>
            <a:ext cx="6583680" cy="274320"/>
          </a:xfrm>
          <a:prstGeom prst="rect">
            <a:avLst/>
          </a:prstGeom>
          <a:noFill/>
          <a:ln/>
        </p:spPr>
        <p:txBody>
          <a:bodyPr wrap="square" lIns="0" tIns="0" rIns="0" bIns="0" rtlCol="0" anchor="ctr"/>
          <a:lstStyle/>
          <a:p>
            <a:pPr marL="0" indent="0">
              <a:buNone/>
            </a:pPr>
            <a:r>
              <a:rPr lang="en-US" sz="1500" b="1" dirty="0">
                <a:solidFill>
                  <a:srgbClr val="EAEEF9"/>
                </a:solidFill>
                <a:latin typeface="Calibri" pitchFamily="34" charset="0"/>
                <a:ea typeface="Calibri" pitchFamily="34" charset="-122"/>
                <a:cs typeface="Calibri" pitchFamily="34" charset="-120"/>
              </a:rPr>
              <a:t>Frontend — Next.js 15</a:t>
            </a:r>
            <a:endParaRPr lang="en-US" sz="1500" dirty="0"/>
          </a:p>
        </p:txBody>
      </p:sp>
      <p:sp>
        <p:nvSpPr>
          <p:cNvPr id="8" name="Text 6"/>
          <p:cNvSpPr/>
          <p:nvPr/>
        </p:nvSpPr>
        <p:spPr>
          <a:xfrm>
            <a:off x="1234440" y="1874520"/>
            <a:ext cx="6583680" cy="640080"/>
          </a:xfrm>
          <a:prstGeom prst="rect">
            <a:avLst/>
          </a:prstGeom>
          <a:noFill/>
          <a:ln/>
        </p:spPr>
        <p:txBody>
          <a:bodyPr wrap="square" lIns="0" tIns="0" rIns="0" bIns="0" rtlCol="0" anchor="ctr"/>
          <a:lstStyle/>
          <a:p>
            <a:pPr marL="0" indent="0">
              <a:lnSpc>
                <a:spcPts val="1500"/>
              </a:lnSpc>
              <a:buNone/>
            </a:pPr>
            <a:r>
              <a:rPr lang="en-US" sz="1150" dirty="0">
                <a:solidFill>
                  <a:srgbClr val="97A3BF"/>
                </a:solidFill>
                <a:latin typeface="Calibri" pitchFamily="34" charset="0"/>
                <a:ea typeface="Calibri" pitchFamily="34" charset="-122"/>
                <a:cs typeface="Calibri" pitchFamily="34" charset="-120"/>
              </a:rPr>
              <a:t>Live pipeline flowchart (React Flow), streamed answers, trace timeline, projects, observability. Talks straight to the API (dev proxies buffer SSE).</a:t>
            </a:r>
            <a:endParaRPr lang="en-US" sz="1150" dirty="0"/>
          </a:p>
        </p:txBody>
      </p:sp>
      <p:sp>
        <p:nvSpPr>
          <p:cNvPr id="9" name="Shape 7"/>
          <p:cNvSpPr/>
          <p:nvPr/>
        </p:nvSpPr>
        <p:spPr>
          <a:xfrm>
            <a:off x="548640" y="2761488"/>
            <a:ext cx="7498080" cy="1133856"/>
          </a:xfrm>
          <a:prstGeom prst="roundRect">
            <a:avLst>
              <a:gd name="adj" fmla="val 6452"/>
            </a:avLst>
          </a:prstGeom>
          <a:solidFill>
            <a:srgbClr val="161E33"/>
          </a:solidFill>
          <a:ln w="12700">
            <a:solidFill>
              <a:srgbClr val="1E2740"/>
            </a:solidFill>
            <a:prstDash val="solid"/>
          </a:ln>
        </p:spPr>
        <p:txBody>
          <a:bodyPr/>
          <a:lstStyle/>
          <a:p>
            <a:endParaRPr lang="en-PK"/>
          </a:p>
        </p:txBody>
      </p:sp>
      <p:sp>
        <p:nvSpPr>
          <p:cNvPr id="10" name="Shape 8"/>
          <p:cNvSpPr/>
          <p:nvPr/>
        </p:nvSpPr>
        <p:spPr>
          <a:xfrm>
            <a:off x="777240" y="2907792"/>
            <a:ext cx="310896" cy="310896"/>
          </a:xfrm>
          <a:prstGeom prst="ellipse">
            <a:avLst/>
          </a:prstGeom>
          <a:solidFill>
            <a:srgbClr val="22D3EE"/>
          </a:solidFill>
          <a:ln w="12700">
            <a:solidFill>
              <a:srgbClr val="22D3EE"/>
            </a:solidFill>
            <a:prstDash val="solid"/>
          </a:ln>
        </p:spPr>
        <p:txBody>
          <a:bodyPr/>
          <a:lstStyle/>
          <a:p>
            <a:endParaRPr lang="en-PK"/>
          </a:p>
        </p:txBody>
      </p:sp>
      <p:sp>
        <p:nvSpPr>
          <p:cNvPr id="11" name="Text 9"/>
          <p:cNvSpPr/>
          <p:nvPr/>
        </p:nvSpPr>
        <p:spPr>
          <a:xfrm>
            <a:off x="777240" y="2907792"/>
            <a:ext cx="310896" cy="310896"/>
          </a:xfrm>
          <a:prstGeom prst="rect">
            <a:avLst/>
          </a:prstGeom>
          <a:noFill/>
          <a:ln/>
        </p:spPr>
        <p:txBody>
          <a:bodyPr wrap="square" lIns="0" tIns="0" rIns="0" bIns="0" rtlCol="0" anchor="ctr"/>
          <a:lstStyle/>
          <a:p>
            <a:pPr marL="0" indent="0" algn="ctr">
              <a:buNone/>
            </a:pPr>
            <a:r>
              <a:rPr lang="en-US" sz="1200" b="1" dirty="0">
                <a:solidFill>
                  <a:srgbClr val="0B1020"/>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234440" y="2889504"/>
            <a:ext cx="6583680" cy="274320"/>
          </a:xfrm>
          <a:prstGeom prst="rect">
            <a:avLst/>
          </a:prstGeom>
          <a:noFill/>
          <a:ln/>
        </p:spPr>
        <p:txBody>
          <a:bodyPr wrap="square" lIns="0" tIns="0" rIns="0" bIns="0" rtlCol="0" anchor="ctr"/>
          <a:lstStyle/>
          <a:p>
            <a:pPr marL="0" indent="0">
              <a:buNone/>
            </a:pPr>
            <a:r>
              <a:rPr lang="en-US" sz="1500" b="1" dirty="0">
                <a:solidFill>
                  <a:srgbClr val="EAEEF9"/>
                </a:solidFill>
                <a:latin typeface="Calibri" pitchFamily="34" charset="0"/>
                <a:ea typeface="Calibri" pitchFamily="34" charset="-122"/>
                <a:cs typeface="Calibri" pitchFamily="34" charset="-120"/>
              </a:rPr>
              <a:t>Auth microservice — FastAPI :8001</a:t>
            </a:r>
            <a:endParaRPr lang="en-US" sz="1500" dirty="0"/>
          </a:p>
        </p:txBody>
      </p:sp>
      <p:sp>
        <p:nvSpPr>
          <p:cNvPr id="13" name="Text 11"/>
          <p:cNvSpPr/>
          <p:nvPr/>
        </p:nvSpPr>
        <p:spPr>
          <a:xfrm>
            <a:off x="1234440" y="3172968"/>
            <a:ext cx="6583680" cy="640080"/>
          </a:xfrm>
          <a:prstGeom prst="rect">
            <a:avLst/>
          </a:prstGeom>
          <a:noFill/>
          <a:ln/>
        </p:spPr>
        <p:txBody>
          <a:bodyPr wrap="square" lIns="0" tIns="0" rIns="0" bIns="0" rtlCol="0" anchor="ctr"/>
          <a:lstStyle/>
          <a:p>
            <a:pPr marL="0" indent="0">
              <a:lnSpc>
                <a:spcPts val="1500"/>
              </a:lnSpc>
              <a:buNone/>
            </a:pPr>
            <a:r>
              <a:rPr lang="en-US" sz="1150" dirty="0">
                <a:solidFill>
                  <a:srgbClr val="97A3BF"/>
                </a:solidFill>
                <a:latin typeface="Calibri" pitchFamily="34" charset="0"/>
                <a:ea typeface="Calibri" pitchFamily="34" charset="-122"/>
                <a:cs typeface="Calibri" pitchFamily="34" charset="-120"/>
              </a:rPr>
              <a:t>Register / login / refresh / logout. bcrypt hashing, JWT access (30m) + refresh (7d), revocable sessions.</a:t>
            </a:r>
            <a:endParaRPr lang="en-US" sz="1150" dirty="0"/>
          </a:p>
        </p:txBody>
      </p:sp>
      <p:sp>
        <p:nvSpPr>
          <p:cNvPr id="14" name="Shape 12"/>
          <p:cNvSpPr/>
          <p:nvPr/>
        </p:nvSpPr>
        <p:spPr>
          <a:xfrm>
            <a:off x="548640" y="4059936"/>
            <a:ext cx="7498080" cy="1133856"/>
          </a:xfrm>
          <a:prstGeom prst="roundRect">
            <a:avLst>
              <a:gd name="adj" fmla="val 6452"/>
            </a:avLst>
          </a:prstGeom>
          <a:solidFill>
            <a:srgbClr val="161E33"/>
          </a:solidFill>
          <a:ln w="12700">
            <a:solidFill>
              <a:srgbClr val="1E2740"/>
            </a:solidFill>
            <a:prstDash val="solid"/>
          </a:ln>
        </p:spPr>
        <p:txBody>
          <a:bodyPr/>
          <a:lstStyle/>
          <a:p>
            <a:endParaRPr lang="en-PK"/>
          </a:p>
        </p:txBody>
      </p:sp>
      <p:sp>
        <p:nvSpPr>
          <p:cNvPr id="15" name="Shape 13"/>
          <p:cNvSpPr/>
          <p:nvPr/>
        </p:nvSpPr>
        <p:spPr>
          <a:xfrm>
            <a:off x="777240" y="4206240"/>
            <a:ext cx="310896" cy="310896"/>
          </a:xfrm>
          <a:prstGeom prst="ellipse">
            <a:avLst/>
          </a:prstGeom>
          <a:solidFill>
            <a:srgbClr val="E879F9"/>
          </a:solidFill>
          <a:ln w="12700">
            <a:solidFill>
              <a:srgbClr val="E879F9"/>
            </a:solidFill>
            <a:prstDash val="solid"/>
          </a:ln>
        </p:spPr>
        <p:txBody>
          <a:bodyPr/>
          <a:lstStyle/>
          <a:p>
            <a:endParaRPr lang="en-PK"/>
          </a:p>
        </p:txBody>
      </p:sp>
      <p:sp>
        <p:nvSpPr>
          <p:cNvPr id="16" name="Text 14"/>
          <p:cNvSpPr/>
          <p:nvPr/>
        </p:nvSpPr>
        <p:spPr>
          <a:xfrm>
            <a:off x="777240" y="4206240"/>
            <a:ext cx="310896" cy="310896"/>
          </a:xfrm>
          <a:prstGeom prst="rect">
            <a:avLst/>
          </a:prstGeom>
          <a:noFill/>
          <a:ln/>
        </p:spPr>
        <p:txBody>
          <a:bodyPr wrap="square" lIns="0" tIns="0" rIns="0" bIns="0" rtlCol="0" anchor="ctr"/>
          <a:lstStyle/>
          <a:p>
            <a:pPr marL="0" indent="0" algn="ctr">
              <a:buNone/>
            </a:pPr>
            <a:r>
              <a:rPr lang="en-US" sz="1200" b="1" dirty="0">
                <a:solidFill>
                  <a:srgbClr val="0B1020"/>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234440" y="4187952"/>
            <a:ext cx="6583680" cy="274320"/>
          </a:xfrm>
          <a:prstGeom prst="rect">
            <a:avLst/>
          </a:prstGeom>
          <a:noFill/>
          <a:ln/>
        </p:spPr>
        <p:txBody>
          <a:bodyPr wrap="square" lIns="0" tIns="0" rIns="0" bIns="0" rtlCol="0" anchor="ctr"/>
          <a:lstStyle/>
          <a:p>
            <a:pPr marL="0" indent="0">
              <a:buNone/>
            </a:pPr>
            <a:r>
              <a:rPr lang="en-US" sz="1500" b="1" dirty="0">
                <a:solidFill>
                  <a:srgbClr val="EAEEF9"/>
                </a:solidFill>
                <a:latin typeface="Calibri" pitchFamily="34" charset="0"/>
                <a:ea typeface="Calibri" pitchFamily="34" charset="-122"/>
                <a:cs typeface="Calibri" pitchFamily="34" charset="-120"/>
              </a:rPr>
              <a:t>Core API — FastAPI :8000</a:t>
            </a:r>
            <a:endParaRPr lang="en-US" sz="1500" dirty="0"/>
          </a:p>
        </p:txBody>
      </p:sp>
      <p:sp>
        <p:nvSpPr>
          <p:cNvPr id="18" name="Text 16"/>
          <p:cNvSpPr/>
          <p:nvPr/>
        </p:nvSpPr>
        <p:spPr>
          <a:xfrm>
            <a:off x="1234440" y="4471416"/>
            <a:ext cx="6583680" cy="640080"/>
          </a:xfrm>
          <a:prstGeom prst="rect">
            <a:avLst/>
          </a:prstGeom>
          <a:noFill/>
          <a:ln/>
        </p:spPr>
        <p:txBody>
          <a:bodyPr wrap="square" lIns="0" tIns="0" rIns="0" bIns="0" rtlCol="0" anchor="ctr"/>
          <a:lstStyle/>
          <a:p>
            <a:pPr marL="0" indent="0">
              <a:lnSpc>
                <a:spcPts val="1500"/>
              </a:lnSpc>
              <a:buNone/>
            </a:pPr>
            <a:r>
              <a:rPr lang="en-US" sz="1150" dirty="0">
                <a:solidFill>
                  <a:srgbClr val="97A3BF"/>
                </a:solidFill>
                <a:latin typeface="Calibri" pitchFamily="34" charset="0"/>
                <a:ea typeface="Calibri" pitchFamily="34" charset="-122"/>
                <a:cs typeface="Calibri" pitchFamily="34" charset="-120"/>
              </a:rPr>
              <a:t>LangGraph agent, per-user chats &amp; projects, tools, MCP, DB logging. Validates the JWT locally, streams every node over SSE.</a:t>
            </a:r>
            <a:endParaRPr lang="en-US" sz="1150" dirty="0"/>
          </a:p>
        </p:txBody>
      </p:sp>
      <p:sp>
        <p:nvSpPr>
          <p:cNvPr id="19" name="Shape 17"/>
          <p:cNvSpPr/>
          <p:nvPr/>
        </p:nvSpPr>
        <p:spPr>
          <a:xfrm>
            <a:off x="548640" y="5358384"/>
            <a:ext cx="7498080" cy="1133856"/>
          </a:xfrm>
          <a:prstGeom prst="roundRect">
            <a:avLst>
              <a:gd name="adj" fmla="val 6452"/>
            </a:avLst>
          </a:prstGeom>
          <a:solidFill>
            <a:srgbClr val="161E33"/>
          </a:solidFill>
          <a:ln w="12700">
            <a:solidFill>
              <a:srgbClr val="1E2740"/>
            </a:solidFill>
            <a:prstDash val="solid"/>
          </a:ln>
        </p:spPr>
        <p:txBody>
          <a:bodyPr/>
          <a:lstStyle/>
          <a:p>
            <a:endParaRPr lang="en-PK"/>
          </a:p>
        </p:txBody>
      </p:sp>
      <p:sp>
        <p:nvSpPr>
          <p:cNvPr id="20" name="Shape 18"/>
          <p:cNvSpPr/>
          <p:nvPr/>
        </p:nvSpPr>
        <p:spPr>
          <a:xfrm>
            <a:off x="777240" y="5504688"/>
            <a:ext cx="310896" cy="310896"/>
          </a:xfrm>
          <a:prstGeom prst="ellipse">
            <a:avLst/>
          </a:prstGeom>
          <a:solidFill>
            <a:srgbClr val="34D399"/>
          </a:solidFill>
          <a:ln w="12700">
            <a:solidFill>
              <a:srgbClr val="34D399"/>
            </a:solidFill>
            <a:prstDash val="solid"/>
          </a:ln>
        </p:spPr>
        <p:txBody>
          <a:bodyPr/>
          <a:lstStyle/>
          <a:p>
            <a:endParaRPr lang="en-PK"/>
          </a:p>
        </p:txBody>
      </p:sp>
      <p:sp>
        <p:nvSpPr>
          <p:cNvPr id="21" name="Text 19"/>
          <p:cNvSpPr/>
          <p:nvPr/>
        </p:nvSpPr>
        <p:spPr>
          <a:xfrm>
            <a:off x="777240" y="5504688"/>
            <a:ext cx="310896" cy="310896"/>
          </a:xfrm>
          <a:prstGeom prst="rect">
            <a:avLst/>
          </a:prstGeom>
          <a:noFill/>
          <a:ln/>
        </p:spPr>
        <p:txBody>
          <a:bodyPr wrap="square" lIns="0" tIns="0" rIns="0" bIns="0" rtlCol="0" anchor="ctr"/>
          <a:lstStyle/>
          <a:p>
            <a:pPr marL="0" indent="0" algn="ctr">
              <a:buNone/>
            </a:pPr>
            <a:r>
              <a:rPr lang="en-US" sz="1200" b="1" dirty="0">
                <a:solidFill>
                  <a:srgbClr val="0B1020"/>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234440" y="5486400"/>
            <a:ext cx="6583680" cy="274320"/>
          </a:xfrm>
          <a:prstGeom prst="rect">
            <a:avLst/>
          </a:prstGeom>
          <a:noFill/>
          <a:ln/>
        </p:spPr>
        <p:txBody>
          <a:bodyPr wrap="square" lIns="0" tIns="0" rIns="0" bIns="0" rtlCol="0" anchor="ctr"/>
          <a:lstStyle/>
          <a:p>
            <a:pPr marL="0" indent="0">
              <a:buNone/>
            </a:pPr>
            <a:r>
              <a:rPr lang="en-US" sz="1500" b="1" dirty="0">
                <a:solidFill>
                  <a:srgbClr val="EAEEF9"/>
                </a:solidFill>
                <a:latin typeface="Calibri" pitchFamily="34" charset="0"/>
                <a:ea typeface="Calibri" pitchFamily="34" charset="-122"/>
                <a:cs typeface="Calibri" pitchFamily="34" charset="-120"/>
              </a:rPr>
              <a:t>Data layer</a:t>
            </a:r>
            <a:endParaRPr lang="en-US" sz="1500" dirty="0"/>
          </a:p>
        </p:txBody>
      </p:sp>
      <p:sp>
        <p:nvSpPr>
          <p:cNvPr id="23" name="Text 21"/>
          <p:cNvSpPr/>
          <p:nvPr/>
        </p:nvSpPr>
        <p:spPr>
          <a:xfrm>
            <a:off x="1234440" y="5769864"/>
            <a:ext cx="6583680" cy="640080"/>
          </a:xfrm>
          <a:prstGeom prst="rect">
            <a:avLst/>
          </a:prstGeom>
          <a:noFill/>
          <a:ln/>
        </p:spPr>
        <p:txBody>
          <a:bodyPr wrap="square" lIns="0" tIns="0" rIns="0" bIns="0" rtlCol="0" anchor="ctr"/>
          <a:lstStyle/>
          <a:p>
            <a:pPr marL="0" indent="0">
              <a:lnSpc>
                <a:spcPts val="1500"/>
              </a:lnSpc>
              <a:buNone/>
            </a:pPr>
            <a:r>
              <a:rPr lang="en-US" sz="1150" dirty="0">
                <a:solidFill>
                  <a:srgbClr val="97A3BF"/>
                </a:solidFill>
                <a:latin typeface="Calibri" pitchFamily="34" charset="0"/>
                <a:ea typeface="Calibri" pitchFamily="34" charset="-122"/>
                <a:cs typeface="Calibri" pitchFamily="34" charset="-120"/>
              </a:rPr>
              <a:t>Postgres + pgvector (docker-compose) · Chroma (40k-chunk corpus) · Redis · SQLite fallback for zero-setup dev — same SQLAlchemy models.</a:t>
            </a:r>
            <a:endParaRPr lang="en-US" sz="1150" dirty="0"/>
          </a:p>
        </p:txBody>
      </p:sp>
      <p:sp>
        <p:nvSpPr>
          <p:cNvPr id="24" name="Shape 22"/>
          <p:cNvSpPr/>
          <p:nvPr/>
        </p:nvSpPr>
        <p:spPr>
          <a:xfrm>
            <a:off x="8275320" y="1463040"/>
            <a:ext cx="3337560" cy="4663440"/>
          </a:xfrm>
          <a:prstGeom prst="roundRect">
            <a:avLst>
              <a:gd name="adj" fmla="val 2192"/>
            </a:avLst>
          </a:prstGeom>
          <a:solidFill>
            <a:srgbClr val="1E2740"/>
          </a:solidFill>
          <a:ln w="12700">
            <a:solidFill>
              <a:srgbClr val="1E2740"/>
            </a:solidFill>
            <a:prstDash val="solid"/>
          </a:ln>
        </p:spPr>
        <p:txBody>
          <a:bodyPr/>
          <a:lstStyle/>
          <a:p>
            <a:endParaRPr lang="en-PK"/>
          </a:p>
        </p:txBody>
      </p:sp>
      <p:sp>
        <p:nvSpPr>
          <p:cNvPr id="25" name="Text 23"/>
          <p:cNvSpPr/>
          <p:nvPr/>
        </p:nvSpPr>
        <p:spPr>
          <a:xfrm>
            <a:off x="8503920" y="1627632"/>
            <a:ext cx="2926080" cy="27432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Why this shape</a:t>
            </a:r>
            <a:endParaRPr lang="en-US" sz="1500" dirty="0"/>
          </a:p>
        </p:txBody>
      </p:sp>
      <p:sp>
        <p:nvSpPr>
          <p:cNvPr id="26" name="Text 24"/>
          <p:cNvSpPr/>
          <p:nvPr/>
        </p:nvSpPr>
        <p:spPr>
          <a:xfrm>
            <a:off x="8503920" y="2011680"/>
            <a:ext cx="2926080" cy="3840480"/>
          </a:xfrm>
          <a:prstGeom prst="rect">
            <a:avLst/>
          </a:prstGeom>
          <a:noFill/>
          <a:ln/>
        </p:spPr>
        <p:txBody>
          <a:bodyPr wrap="square" lIns="0" tIns="0" rIns="0" bIns="0" rtlCol="0" anchor="ctr"/>
          <a:lstStyle/>
          <a:p>
            <a:pPr marL="0" indent="0">
              <a:lnSpc>
                <a:spcPts val="1500"/>
              </a:lnSpc>
              <a:buNone/>
            </a:pPr>
            <a:r>
              <a:rPr lang="en-US" sz="1150" b="1" dirty="0">
                <a:solidFill>
                  <a:srgbClr val="EAEEF9"/>
                </a:solidFill>
                <a:latin typeface="Calibri" pitchFamily="34" charset="0"/>
                <a:ea typeface="Calibri" pitchFamily="34" charset="-122"/>
                <a:cs typeface="Calibri" pitchFamily="34" charset="-120"/>
              </a:rPr>
              <a:t>Auth is a separate service</a:t>
            </a:r>
            <a:endParaRPr lang="en-US" sz="1150" dirty="0"/>
          </a:p>
          <a:p>
            <a:pPr marL="0" indent="0">
              <a:lnSpc>
                <a:spcPts val="1500"/>
              </a:lnSpc>
              <a:buNone/>
            </a:pPr>
            <a:r>
              <a:rPr lang="en-US" sz="1150" dirty="0">
                <a:solidFill>
                  <a:srgbClr val="97A3BF"/>
                </a:solidFill>
                <a:latin typeface="Calibri" pitchFamily="34" charset="0"/>
                <a:ea typeface="Calibri" pitchFamily="34" charset="-122"/>
                <a:cs typeface="Calibri" pitchFamily="34" charset="-120"/>
              </a:rPr>
              <a:t>so identity can scale and be reasoned about on its own.
</a:t>
            </a:r>
            <a:endParaRPr lang="en-US" sz="1150" dirty="0"/>
          </a:p>
          <a:p>
            <a:pPr marL="0" indent="0">
              <a:lnSpc>
                <a:spcPts val="1500"/>
              </a:lnSpc>
              <a:buNone/>
            </a:pPr>
            <a:r>
              <a:rPr lang="en-US" sz="1150" b="1" dirty="0">
                <a:solidFill>
                  <a:srgbClr val="EAEEF9"/>
                </a:solidFill>
                <a:latin typeface="Calibri" pitchFamily="34" charset="0"/>
                <a:ea typeface="Calibri" pitchFamily="34" charset="-122"/>
                <a:cs typeface="Calibri" pitchFamily="34" charset="-120"/>
              </a:rPr>
              <a:t>Stateless JWT verification</a:t>
            </a:r>
            <a:endParaRPr lang="en-US" sz="1150" dirty="0"/>
          </a:p>
          <a:p>
            <a:pPr marL="0" indent="0">
              <a:lnSpc>
                <a:spcPts val="1500"/>
              </a:lnSpc>
              <a:buNone/>
            </a:pPr>
            <a:r>
              <a:rPr lang="en-US" sz="1150" dirty="0">
                <a:solidFill>
                  <a:srgbClr val="97A3BF"/>
                </a:solidFill>
                <a:latin typeface="Calibri" pitchFamily="34" charset="0"/>
                <a:ea typeface="Calibri" pitchFamily="34" charset="-122"/>
                <a:cs typeface="Calibri" pitchFamily="34" charset="-120"/>
              </a:rPr>
              <a:t>— no network hop to auth per request.
</a:t>
            </a:r>
            <a:endParaRPr lang="en-US" sz="1150" dirty="0"/>
          </a:p>
          <a:p>
            <a:pPr marL="0" indent="0">
              <a:lnSpc>
                <a:spcPts val="1500"/>
              </a:lnSpc>
              <a:buNone/>
            </a:pPr>
            <a:r>
              <a:rPr lang="en-US" sz="1150" b="1" dirty="0">
                <a:solidFill>
                  <a:srgbClr val="EAEEF9"/>
                </a:solidFill>
                <a:latin typeface="Calibri" pitchFamily="34" charset="0"/>
                <a:ea typeface="Calibri" pitchFamily="34" charset="-122"/>
                <a:cs typeface="Calibri" pitchFamily="34" charset="-120"/>
              </a:rPr>
              <a:t>SSE, not WebSockets</a:t>
            </a:r>
            <a:endParaRPr lang="en-US" sz="1150" dirty="0"/>
          </a:p>
          <a:p>
            <a:pPr marL="0" indent="0">
              <a:lnSpc>
                <a:spcPts val="1500"/>
              </a:lnSpc>
              <a:buNone/>
            </a:pPr>
            <a:r>
              <a:rPr lang="en-US" sz="1150" dirty="0">
                <a:solidFill>
                  <a:srgbClr val="97A3BF"/>
                </a:solidFill>
                <a:latin typeface="Calibri" pitchFamily="34" charset="0"/>
                <a:ea typeface="Calibri" pitchFamily="34" charset="-122"/>
                <a:cs typeface="Calibri" pitchFamily="34" charset="-120"/>
              </a:rPr>
              <a:t>— one-way server→client streaming is all we need.
</a:t>
            </a:r>
            <a:endParaRPr lang="en-US" sz="1150" dirty="0"/>
          </a:p>
          <a:p>
            <a:pPr marL="0" indent="0">
              <a:lnSpc>
                <a:spcPts val="1500"/>
              </a:lnSpc>
              <a:buNone/>
            </a:pPr>
            <a:r>
              <a:rPr lang="en-US" sz="1150" b="1" dirty="0">
                <a:solidFill>
                  <a:srgbClr val="EAEEF9"/>
                </a:solidFill>
                <a:latin typeface="Calibri" pitchFamily="34" charset="0"/>
                <a:ea typeface="Calibri" pitchFamily="34" charset="-122"/>
                <a:cs typeface="Calibri" pitchFamily="34" charset="-120"/>
              </a:rPr>
              <a:t>DB-agnostic via SQLAlchemy</a:t>
            </a:r>
            <a:endParaRPr lang="en-US" sz="1150" dirty="0"/>
          </a:p>
          <a:p>
            <a:pPr marL="0" indent="0">
              <a:lnSpc>
                <a:spcPts val="1500"/>
              </a:lnSpc>
              <a:buNone/>
            </a:pPr>
            <a:r>
              <a:rPr lang="en-US" sz="1150" dirty="0">
                <a:solidFill>
                  <a:srgbClr val="97A3BF"/>
                </a:solidFill>
                <a:latin typeface="Calibri" pitchFamily="34" charset="0"/>
                <a:ea typeface="Calibri" pitchFamily="34" charset="-122"/>
                <a:cs typeface="Calibri" pitchFamily="34" charset="-120"/>
              </a:rPr>
              <a:t>— Postgres in prod, SQLite locally. One codebase.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lIns="0" tIns="0" rIns="0" bIns="0" rtlCol="0" anchor="ctr"/>
          <a:lstStyle/>
          <a:p>
            <a:pPr marL="0" indent="0">
              <a:buNone/>
            </a:pPr>
            <a:r>
              <a:rPr lang="en-US" sz="3600" b="1" dirty="0">
                <a:solidFill>
                  <a:srgbClr val="EAEEF9"/>
                </a:solidFill>
                <a:latin typeface="Calibri" pitchFamily="34" charset="0"/>
                <a:ea typeface="Calibri" pitchFamily="34" charset="-122"/>
                <a:cs typeface="Calibri" pitchFamily="34" charset="-120"/>
              </a:rPr>
              <a:t>The RAG pipeline — engineered for zero hallucination</a:t>
            </a:r>
            <a:endParaRPr lang="en-US" sz="3600" dirty="0"/>
          </a:p>
        </p:txBody>
      </p:sp>
      <p:sp>
        <p:nvSpPr>
          <p:cNvPr id="3" name="Text 1"/>
          <p:cNvSpPr/>
          <p:nvPr/>
        </p:nvSpPr>
        <p:spPr>
          <a:xfrm>
            <a:off x="548640" y="932688"/>
            <a:ext cx="11064240" cy="292608"/>
          </a:xfrm>
          <a:prstGeom prst="rect">
            <a:avLst/>
          </a:prstGeom>
          <a:noFill/>
          <a:ln/>
        </p:spPr>
        <p:txBody>
          <a:bodyPr wrap="square" lIns="0" tIns="0" rIns="0" bIns="0" rtlCol="0" anchor="ctr"/>
          <a:lstStyle/>
          <a:p>
            <a:pPr marL="0" indent="0">
              <a:buNone/>
            </a:pPr>
            <a:r>
              <a:rPr lang="en-US" sz="1350" dirty="0">
                <a:solidFill>
                  <a:srgbClr val="97A3BF"/>
                </a:solidFill>
                <a:latin typeface="Calibri" pitchFamily="34" charset="0"/>
                <a:ea typeface="Calibri" pitchFamily="34" charset="-122"/>
                <a:cs typeface="Calibri" pitchFamily="34" charset="-120"/>
              </a:rPr>
              <a:t>A LangGraph state machine. The gate is the product.</a:t>
            </a:r>
            <a:endParaRPr lang="en-US" sz="1350" dirty="0"/>
          </a:p>
        </p:txBody>
      </p:sp>
      <p:sp>
        <p:nvSpPr>
          <p:cNvPr id="4" name="Shape 2"/>
          <p:cNvSpPr/>
          <p:nvPr/>
        </p:nvSpPr>
        <p:spPr>
          <a:xfrm>
            <a:off x="548640" y="1481328"/>
            <a:ext cx="3520440" cy="1207008"/>
          </a:xfrm>
          <a:prstGeom prst="roundRect">
            <a:avLst>
              <a:gd name="adj" fmla="val 6061"/>
            </a:avLst>
          </a:prstGeom>
          <a:solidFill>
            <a:srgbClr val="161E33"/>
          </a:solidFill>
          <a:ln w="12700">
            <a:solidFill>
              <a:srgbClr val="1E2740"/>
            </a:solidFill>
            <a:prstDash val="solid"/>
          </a:ln>
        </p:spPr>
        <p:txBody>
          <a:bodyPr/>
          <a:lstStyle/>
          <a:p>
            <a:endParaRPr lang="en-PK"/>
          </a:p>
        </p:txBody>
      </p:sp>
      <p:sp>
        <p:nvSpPr>
          <p:cNvPr id="5" name="Shape 3"/>
          <p:cNvSpPr/>
          <p:nvPr/>
        </p:nvSpPr>
        <p:spPr>
          <a:xfrm>
            <a:off x="749808" y="1664208"/>
            <a:ext cx="310896" cy="310896"/>
          </a:xfrm>
          <a:prstGeom prst="ellipse">
            <a:avLst/>
          </a:prstGeom>
          <a:solidFill>
            <a:srgbClr val="6366F1"/>
          </a:solidFill>
          <a:ln w="12700">
            <a:solidFill>
              <a:srgbClr val="6366F1"/>
            </a:solidFill>
            <a:prstDash val="solid"/>
          </a:ln>
        </p:spPr>
        <p:txBody>
          <a:bodyPr/>
          <a:lstStyle/>
          <a:p>
            <a:endParaRPr lang="en-PK"/>
          </a:p>
        </p:txBody>
      </p:sp>
      <p:sp>
        <p:nvSpPr>
          <p:cNvPr id="6" name="Text 4"/>
          <p:cNvSpPr/>
          <p:nvPr/>
        </p:nvSpPr>
        <p:spPr>
          <a:xfrm>
            <a:off x="749808" y="1664208"/>
            <a:ext cx="310896" cy="310896"/>
          </a:xfrm>
          <a:prstGeom prst="rect">
            <a:avLst/>
          </a:prstGeom>
          <a:noFill/>
          <a:ln/>
        </p:spPr>
        <p:txBody>
          <a:bodyPr wrap="square" lIns="0" tIns="0" rIns="0" bIns="0" rtlCol="0" anchor="ctr"/>
          <a:lstStyle/>
          <a:p>
            <a:pPr marL="0" indent="0" algn="ctr">
              <a:buNone/>
            </a:pPr>
            <a:r>
              <a:rPr lang="en-US" sz="1200" b="1" dirty="0">
                <a:solidFill>
                  <a:srgbClr val="0B1020"/>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07008" y="1645920"/>
            <a:ext cx="2743200" cy="274320"/>
          </a:xfrm>
          <a:prstGeom prst="rect">
            <a:avLst/>
          </a:prstGeom>
          <a:noFill/>
          <a:ln/>
        </p:spPr>
        <p:txBody>
          <a:bodyPr wrap="square" lIns="0" tIns="0" rIns="0" bIns="0" rtlCol="0" anchor="ctr"/>
          <a:lstStyle/>
          <a:p>
            <a:pPr marL="0" indent="0">
              <a:buNone/>
            </a:pPr>
            <a:r>
              <a:rPr lang="en-US" sz="1400" b="1" dirty="0">
                <a:solidFill>
                  <a:srgbClr val="EAEEF9"/>
                </a:solidFill>
                <a:latin typeface="Calibri" pitchFamily="34" charset="0"/>
                <a:ea typeface="Calibri" pitchFamily="34" charset="-122"/>
                <a:cs typeface="Calibri" pitchFamily="34" charset="-120"/>
              </a:rPr>
              <a:t>Rewrite &amp; route</a:t>
            </a:r>
            <a:endParaRPr lang="en-US" sz="1400" dirty="0"/>
          </a:p>
        </p:txBody>
      </p:sp>
      <p:sp>
        <p:nvSpPr>
          <p:cNvPr id="8" name="Text 6"/>
          <p:cNvSpPr/>
          <p:nvPr/>
        </p:nvSpPr>
        <p:spPr>
          <a:xfrm>
            <a:off x="1207008" y="1938528"/>
            <a:ext cx="2743200" cy="640080"/>
          </a:xfrm>
          <a:prstGeom prst="rect">
            <a:avLst/>
          </a:prstGeom>
          <a:noFill/>
          <a:ln/>
        </p:spPr>
        <p:txBody>
          <a:bodyPr wrap="square" lIns="0" tIns="0" rIns="0" bIns="0" rtlCol="0" anchor="ctr"/>
          <a:lstStyle/>
          <a:p>
            <a:pPr marL="0" indent="0">
              <a:lnSpc>
                <a:spcPts val="1400"/>
              </a:lnSpc>
              <a:buNone/>
            </a:pPr>
            <a:r>
              <a:rPr lang="en-US" sz="1100" dirty="0">
                <a:solidFill>
                  <a:srgbClr val="97A3BF"/>
                </a:solidFill>
                <a:latin typeface="Calibri" pitchFamily="34" charset="0"/>
                <a:ea typeface="Calibri" pitchFamily="34" charset="-122"/>
                <a:cs typeface="Calibri" pitchFamily="34" charset="-120"/>
              </a:rPr>
              <a:t>Classifies: knowledge-base · tool · web-search · chat</a:t>
            </a:r>
            <a:endParaRPr lang="en-US" sz="1100" dirty="0"/>
          </a:p>
        </p:txBody>
      </p:sp>
      <p:sp>
        <p:nvSpPr>
          <p:cNvPr id="9" name="Shape 7"/>
          <p:cNvSpPr/>
          <p:nvPr/>
        </p:nvSpPr>
        <p:spPr>
          <a:xfrm>
            <a:off x="4279392" y="1481328"/>
            <a:ext cx="3520440" cy="1207008"/>
          </a:xfrm>
          <a:prstGeom prst="roundRect">
            <a:avLst>
              <a:gd name="adj" fmla="val 6061"/>
            </a:avLst>
          </a:prstGeom>
          <a:solidFill>
            <a:srgbClr val="161E33"/>
          </a:solidFill>
          <a:ln w="12700">
            <a:solidFill>
              <a:srgbClr val="1E2740"/>
            </a:solidFill>
            <a:prstDash val="solid"/>
          </a:ln>
        </p:spPr>
        <p:txBody>
          <a:bodyPr/>
          <a:lstStyle/>
          <a:p>
            <a:endParaRPr lang="en-PK"/>
          </a:p>
        </p:txBody>
      </p:sp>
      <p:sp>
        <p:nvSpPr>
          <p:cNvPr id="10" name="Shape 8"/>
          <p:cNvSpPr/>
          <p:nvPr/>
        </p:nvSpPr>
        <p:spPr>
          <a:xfrm>
            <a:off x="4480560" y="1664208"/>
            <a:ext cx="310896" cy="310896"/>
          </a:xfrm>
          <a:prstGeom prst="ellipse">
            <a:avLst/>
          </a:prstGeom>
          <a:solidFill>
            <a:srgbClr val="22D3EE"/>
          </a:solidFill>
          <a:ln w="12700">
            <a:solidFill>
              <a:srgbClr val="22D3EE"/>
            </a:solidFill>
            <a:prstDash val="solid"/>
          </a:ln>
        </p:spPr>
        <p:txBody>
          <a:bodyPr/>
          <a:lstStyle/>
          <a:p>
            <a:endParaRPr lang="en-PK"/>
          </a:p>
        </p:txBody>
      </p:sp>
      <p:sp>
        <p:nvSpPr>
          <p:cNvPr id="11" name="Text 9"/>
          <p:cNvSpPr/>
          <p:nvPr/>
        </p:nvSpPr>
        <p:spPr>
          <a:xfrm>
            <a:off x="4480560" y="1664208"/>
            <a:ext cx="310896" cy="310896"/>
          </a:xfrm>
          <a:prstGeom prst="rect">
            <a:avLst/>
          </a:prstGeom>
          <a:noFill/>
          <a:ln/>
        </p:spPr>
        <p:txBody>
          <a:bodyPr wrap="square" lIns="0" tIns="0" rIns="0" bIns="0" rtlCol="0" anchor="ctr"/>
          <a:lstStyle/>
          <a:p>
            <a:pPr marL="0" indent="0" algn="ctr">
              <a:buNone/>
            </a:pPr>
            <a:r>
              <a:rPr lang="en-US" sz="1200" b="1" dirty="0">
                <a:solidFill>
                  <a:srgbClr val="0B1020"/>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4937760" y="1645920"/>
            <a:ext cx="2743200" cy="274320"/>
          </a:xfrm>
          <a:prstGeom prst="rect">
            <a:avLst/>
          </a:prstGeom>
          <a:noFill/>
          <a:ln/>
        </p:spPr>
        <p:txBody>
          <a:bodyPr wrap="square" lIns="0" tIns="0" rIns="0" bIns="0" rtlCol="0" anchor="ctr"/>
          <a:lstStyle/>
          <a:p>
            <a:pPr marL="0" indent="0">
              <a:buNone/>
            </a:pPr>
            <a:r>
              <a:rPr lang="en-US" sz="1400" b="1" dirty="0">
                <a:solidFill>
                  <a:srgbClr val="EAEEF9"/>
                </a:solidFill>
                <a:latin typeface="Calibri" pitchFamily="34" charset="0"/>
                <a:ea typeface="Calibri" pitchFamily="34" charset="-122"/>
                <a:cs typeface="Calibri" pitchFamily="34" charset="-120"/>
              </a:rPr>
              <a:t>Hybrid retrieve</a:t>
            </a:r>
            <a:endParaRPr lang="en-US" sz="1400" dirty="0"/>
          </a:p>
        </p:txBody>
      </p:sp>
      <p:sp>
        <p:nvSpPr>
          <p:cNvPr id="13" name="Text 11"/>
          <p:cNvSpPr/>
          <p:nvPr/>
        </p:nvSpPr>
        <p:spPr>
          <a:xfrm>
            <a:off x="4937760" y="1938528"/>
            <a:ext cx="2743200" cy="640080"/>
          </a:xfrm>
          <a:prstGeom prst="rect">
            <a:avLst/>
          </a:prstGeom>
          <a:noFill/>
          <a:ln/>
        </p:spPr>
        <p:txBody>
          <a:bodyPr wrap="square" lIns="0" tIns="0" rIns="0" bIns="0" rtlCol="0" anchor="ctr"/>
          <a:lstStyle/>
          <a:p>
            <a:pPr marL="0" indent="0">
              <a:lnSpc>
                <a:spcPts val="1400"/>
              </a:lnSpc>
              <a:buNone/>
            </a:pPr>
            <a:r>
              <a:rPr lang="en-US" sz="1100" dirty="0">
                <a:solidFill>
                  <a:srgbClr val="97A3BF"/>
                </a:solidFill>
                <a:latin typeface="Calibri" pitchFamily="34" charset="0"/>
                <a:ea typeface="Calibri" pitchFamily="34" charset="-122"/>
                <a:cs typeface="Calibri" pitchFamily="34" charset="-120"/>
              </a:rPr>
              <a:t>Chroma (dense) + BM25 (sparse) → Reciprocal Rank Fusion, k=60</a:t>
            </a:r>
            <a:endParaRPr lang="en-US" sz="1100" dirty="0"/>
          </a:p>
        </p:txBody>
      </p:sp>
      <p:sp>
        <p:nvSpPr>
          <p:cNvPr id="14" name="Shape 12"/>
          <p:cNvSpPr/>
          <p:nvPr/>
        </p:nvSpPr>
        <p:spPr>
          <a:xfrm>
            <a:off x="8010144" y="1481328"/>
            <a:ext cx="3520440" cy="1207008"/>
          </a:xfrm>
          <a:prstGeom prst="roundRect">
            <a:avLst>
              <a:gd name="adj" fmla="val 6061"/>
            </a:avLst>
          </a:prstGeom>
          <a:solidFill>
            <a:srgbClr val="161E33"/>
          </a:solidFill>
          <a:ln w="12700">
            <a:solidFill>
              <a:srgbClr val="1E2740"/>
            </a:solidFill>
            <a:prstDash val="solid"/>
          </a:ln>
        </p:spPr>
        <p:txBody>
          <a:bodyPr/>
          <a:lstStyle/>
          <a:p>
            <a:endParaRPr lang="en-PK"/>
          </a:p>
        </p:txBody>
      </p:sp>
      <p:sp>
        <p:nvSpPr>
          <p:cNvPr id="15" name="Shape 13"/>
          <p:cNvSpPr/>
          <p:nvPr/>
        </p:nvSpPr>
        <p:spPr>
          <a:xfrm>
            <a:off x="8211312" y="1664208"/>
            <a:ext cx="310896" cy="310896"/>
          </a:xfrm>
          <a:prstGeom prst="ellipse">
            <a:avLst/>
          </a:prstGeom>
          <a:solidFill>
            <a:srgbClr val="6366F1"/>
          </a:solidFill>
          <a:ln w="12700">
            <a:solidFill>
              <a:srgbClr val="6366F1"/>
            </a:solidFill>
            <a:prstDash val="solid"/>
          </a:ln>
        </p:spPr>
        <p:txBody>
          <a:bodyPr/>
          <a:lstStyle/>
          <a:p>
            <a:endParaRPr lang="en-PK"/>
          </a:p>
        </p:txBody>
      </p:sp>
      <p:sp>
        <p:nvSpPr>
          <p:cNvPr id="16" name="Text 14"/>
          <p:cNvSpPr/>
          <p:nvPr/>
        </p:nvSpPr>
        <p:spPr>
          <a:xfrm>
            <a:off x="8211312" y="1664208"/>
            <a:ext cx="310896" cy="310896"/>
          </a:xfrm>
          <a:prstGeom prst="rect">
            <a:avLst/>
          </a:prstGeom>
          <a:noFill/>
          <a:ln/>
        </p:spPr>
        <p:txBody>
          <a:bodyPr wrap="square" lIns="0" tIns="0" rIns="0" bIns="0" rtlCol="0" anchor="ctr"/>
          <a:lstStyle/>
          <a:p>
            <a:pPr marL="0" indent="0" algn="ctr">
              <a:buNone/>
            </a:pPr>
            <a:r>
              <a:rPr lang="en-US" sz="1200" b="1" dirty="0">
                <a:solidFill>
                  <a:srgbClr val="0B1020"/>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668512" y="1645920"/>
            <a:ext cx="2743200" cy="274320"/>
          </a:xfrm>
          <a:prstGeom prst="rect">
            <a:avLst/>
          </a:prstGeom>
          <a:noFill/>
          <a:ln/>
        </p:spPr>
        <p:txBody>
          <a:bodyPr wrap="square" lIns="0" tIns="0" rIns="0" bIns="0" rtlCol="0" anchor="ctr"/>
          <a:lstStyle/>
          <a:p>
            <a:pPr marL="0" indent="0">
              <a:buNone/>
            </a:pPr>
            <a:r>
              <a:rPr lang="en-US" sz="1400" b="1" dirty="0">
                <a:solidFill>
                  <a:srgbClr val="EAEEF9"/>
                </a:solidFill>
                <a:latin typeface="Calibri" pitchFamily="34" charset="0"/>
                <a:ea typeface="Calibri" pitchFamily="34" charset="-122"/>
                <a:cs typeface="Calibri" pitchFamily="34" charset="-120"/>
              </a:rPr>
              <a:t>Generate</a:t>
            </a:r>
            <a:endParaRPr lang="en-US" sz="1400" dirty="0"/>
          </a:p>
        </p:txBody>
      </p:sp>
      <p:sp>
        <p:nvSpPr>
          <p:cNvPr id="18" name="Text 16"/>
          <p:cNvSpPr/>
          <p:nvPr/>
        </p:nvSpPr>
        <p:spPr>
          <a:xfrm>
            <a:off x="8668512" y="1938528"/>
            <a:ext cx="2743200" cy="640080"/>
          </a:xfrm>
          <a:prstGeom prst="rect">
            <a:avLst/>
          </a:prstGeom>
          <a:noFill/>
          <a:ln/>
        </p:spPr>
        <p:txBody>
          <a:bodyPr wrap="square" lIns="0" tIns="0" rIns="0" bIns="0" rtlCol="0" anchor="ctr"/>
          <a:lstStyle/>
          <a:p>
            <a:pPr marL="0" indent="0">
              <a:lnSpc>
                <a:spcPts val="1400"/>
              </a:lnSpc>
              <a:buNone/>
            </a:pPr>
            <a:r>
              <a:rPr lang="en-US" sz="1100" dirty="0">
                <a:solidFill>
                  <a:srgbClr val="97A3BF"/>
                </a:solidFill>
                <a:latin typeface="Calibri" pitchFamily="34" charset="0"/>
                <a:ea typeface="Calibri" pitchFamily="34" charset="-122"/>
                <a:cs typeface="Calibri" pitchFamily="34" charset="-120"/>
              </a:rPr>
              <a:t>Answers ONLY from excerpts; length adapts to the question</a:t>
            </a:r>
            <a:endParaRPr lang="en-US" sz="1100" dirty="0"/>
          </a:p>
        </p:txBody>
      </p:sp>
      <p:sp>
        <p:nvSpPr>
          <p:cNvPr id="19" name="Shape 17"/>
          <p:cNvSpPr/>
          <p:nvPr/>
        </p:nvSpPr>
        <p:spPr>
          <a:xfrm>
            <a:off x="548640" y="2852928"/>
            <a:ext cx="3520440" cy="1207008"/>
          </a:xfrm>
          <a:prstGeom prst="roundRect">
            <a:avLst>
              <a:gd name="adj" fmla="val 6061"/>
            </a:avLst>
          </a:prstGeom>
          <a:solidFill>
            <a:srgbClr val="161E33"/>
          </a:solidFill>
          <a:ln w="12700">
            <a:solidFill>
              <a:srgbClr val="1E2740"/>
            </a:solidFill>
            <a:prstDash val="solid"/>
          </a:ln>
        </p:spPr>
        <p:txBody>
          <a:bodyPr/>
          <a:lstStyle/>
          <a:p>
            <a:endParaRPr lang="en-PK"/>
          </a:p>
        </p:txBody>
      </p:sp>
      <p:sp>
        <p:nvSpPr>
          <p:cNvPr id="20" name="Shape 18"/>
          <p:cNvSpPr/>
          <p:nvPr/>
        </p:nvSpPr>
        <p:spPr>
          <a:xfrm>
            <a:off x="749808" y="3035808"/>
            <a:ext cx="310896" cy="310896"/>
          </a:xfrm>
          <a:prstGeom prst="ellipse">
            <a:avLst/>
          </a:prstGeom>
          <a:solidFill>
            <a:srgbClr val="FBBF24"/>
          </a:solidFill>
          <a:ln w="12700">
            <a:solidFill>
              <a:srgbClr val="FBBF24"/>
            </a:solidFill>
            <a:prstDash val="solid"/>
          </a:ln>
        </p:spPr>
        <p:txBody>
          <a:bodyPr/>
          <a:lstStyle/>
          <a:p>
            <a:endParaRPr lang="en-PK"/>
          </a:p>
        </p:txBody>
      </p:sp>
      <p:sp>
        <p:nvSpPr>
          <p:cNvPr id="21" name="Text 19"/>
          <p:cNvSpPr/>
          <p:nvPr/>
        </p:nvSpPr>
        <p:spPr>
          <a:xfrm>
            <a:off x="749808" y="3035808"/>
            <a:ext cx="310896" cy="310896"/>
          </a:xfrm>
          <a:prstGeom prst="rect">
            <a:avLst/>
          </a:prstGeom>
          <a:noFill/>
          <a:ln/>
        </p:spPr>
        <p:txBody>
          <a:bodyPr wrap="square" lIns="0" tIns="0" rIns="0" bIns="0" rtlCol="0" anchor="ctr"/>
          <a:lstStyle/>
          <a:p>
            <a:pPr marL="0" indent="0" algn="ctr">
              <a:buNone/>
            </a:pPr>
            <a:r>
              <a:rPr lang="en-US" sz="1200" b="1" dirty="0">
                <a:solidFill>
                  <a:srgbClr val="0B1020"/>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207008" y="3017520"/>
            <a:ext cx="2743200" cy="274320"/>
          </a:xfrm>
          <a:prstGeom prst="rect">
            <a:avLst/>
          </a:prstGeom>
          <a:noFill/>
          <a:ln/>
        </p:spPr>
        <p:txBody>
          <a:bodyPr wrap="square" lIns="0" tIns="0" rIns="0" bIns="0" rtlCol="0" anchor="ctr"/>
          <a:lstStyle/>
          <a:p>
            <a:pPr marL="0" indent="0">
              <a:buNone/>
            </a:pPr>
            <a:r>
              <a:rPr lang="en-US" sz="1400" b="1" dirty="0">
                <a:solidFill>
                  <a:srgbClr val="EAEEF9"/>
                </a:solidFill>
                <a:latin typeface="Calibri" pitchFamily="34" charset="0"/>
                <a:ea typeface="Calibri" pitchFamily="34" charset="-122"/>
                <a:cs typeface="Calibri" pitchFamily="34" charset="-120"/>
              </a:rPr>
              <a:t>Grounding gate</a:t>
            </a:r>
            <a:endParaRPr lang="en-US" sz="1400" dirty="0"/>
          </a:p>
        </p:txBody>
      </p:sp>
      <p:sp>
        <p:nvSpPr>
          <p:cNvPr id="23" name="Text 21"/>
          <p:cNvSpPr/>
          <p:nvPr/>
        </p:nvSpPr>
        <p:spPr>
          <a:xfrm>
            <a:off x="1207008" y="3310128"/>
            <a:ext cx="2743200" cy="640080"/>
          </a:xfrm>
          <a:prstGeom prst="rect">
            <a:avLst/>
          </a:prstGeom>
          <a:noFill/>
          <a:ln/>
        </p:spPr>
        <p:txBody>
          <a:bodyPr wrap="square" lIns="0" tIns="0" rIns="0" bIns="0" rtlCol="0" anchor="ctr"/>
          <a:lstStyle/>
          <a:p>
            <a:pPr marL="0" indent="0">
              <a:lnSpc>
                <a:spcPts val="1400"/>
              </a:lnSpc>
              <a:buNone/>
            </a:pPr>
            <a:r>
              <a:rPr lang="en-US" sz="1100" dirty="0">
                <a:solidFill>
                  <a:srgbClr val="97A3BF"/>
                </a:solidFill>
                <a:latin typeface="Calibri" pitchFamily="34" charset="0"/>
                <a:ea typeface="Calibri" pitchFamily="34" charset="-122"/>
                <a:cs typeface="Calibri" pitchFamily="34" charset="-120"/>
              </a:rPr>
              <a:t>Separate strict fact-check: every claim traceable, or reject</a:t>
            </a:r>
            <a:endParaRPr lang="en-US" sz="1100" dirty="0"/>
          </a:p>
        </p:txBody>
      </p:sp>
      <p:sp>
        <p:nvSpPr>
          <p:cNvPr id="24" name="Shape 22"/>
          <p:cNvSpPr/>
          <p:nvPr/>
        </p:nvSpPr>
        <p:spPr>
          <a:xfrm>
            <a:off x="4279392" y="2852928"/>
            <a:ext cx="3520440" cy="1207008"/>
          </a:xfrm>
          <a:prstGeom prst="roundRect">
            <a:avLst>
              <a:gd name="adj" fmla="val 6061"/>
            </a:avLst>
          </a:prstGeom>
          <a:solidFill>
            <a:srgbClr val="161E33"/>
          </a:solidFill>
          <a:ln w="12700">
            <a:solidFill>
              <a:srgbClr val="1E2740"/>
            </a:solidFill>
            <a:prstDash val="solid"/>
          </a:ln>
        </p:spPr>
        <p:txBody>
          <a:bodyPr/>
          <a:lstStyle/>
          <a:p>
            <a:endParaRPr lang="en-PK"/>
          </a:p>
        </p:txBody>
      </p:sp>
      <p:sp>
        <p:nvSpPr>
          <p:cNvPr id="25" name="Shape 23"/>
          <p:cNvSpPr/>
          <p:nvPr/>
        </p:nvSpPr>
        <p:spPr>
          <a:xfrm>
            <a:off x="4480560" y="3035808"/>
            <a:ext cx="310896" cy="310896"/>
          </a:xfrm>
          <a:prstGeom prst="ellipse">
            <a:avLst/>
          </a:prstGeom>
          <a:solidFill>
            <a:srgbClr val="E879F9"/>
          </a:solidFill>
          <a:ln w="12700">
            <a:solidFill>
              <a:srgbClr val="E879F9"/>
            </a:solidFill>
            <a:prstDash val="solid"/>
          </a:ln>
        </p:spPr>
        <p:txBody>
          <a:bodyPr/>
          <a:lstStyle/>
          <a:p>
            <a:endParaRPr lang="en-PK"/>
          </a:p>
        </p:txBody>
      </p:sp>
      <p:sp>
        <p:nvSpPr>
          <p:cNvPr id="26" name="Text 24"/>
          <p:cNvSpPr/>
          <p:nvPr/>
        </p:nvSpPr>
        <p:spPr>
          <a:xfrm>
            <a:off x="4480560" y="3035808"/>
            <a:ext cx="310896" cy="310896"/>
          </a:xfrm>
          <a:prstGeom prst="rect">
            <a:avLst/>
          </a:prstGeom>
          <a:noFill/>
          <a:ln/>
        </p:spPr>
        <p:txBody>
          <a:bodyPr wrap="square" lIns="0" tIns="0" rIns="0" bIns="0" rtlCol="0" anchor="ctr"/>
          <a:lstStyle/>
          <a:p>
            <a:pPr marL="0" indent="0" algn="ctr">
              <a:buNone/>
            </a:pPr>
            <a:r>
              <a:rPr lang="en-US" sz="1200" b="1" dirty="0">
                <a:solidFill>
                  <a:srgbClr val="0B1020"/>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4937760" y="3017520"/>
            <a:ext cx="2743200" cy="274320"/>
          </a:xfrm>
          <a:prstGeom prst="rect">
            <a:avLst/>
          </a:prstGeom>
          <a:noFill/>
          <a:ln/>
        </p:spPr>
        <p:txBody>
          <a:bodyPr wrap="square" lIns="0" tIns="0" rIns="0" bIns="0" rtlCol="0" anchor="ctr"/>
          <a:lstStyle/>
          <a:p>
            <a:pPr marL="0" indent="0">
              <a:buNone/>
            </a:pPr>
            <a:r>
              <a:rPr lang="en-US" sz="1400" b="1" dirty="0">
                <a:solidFill>
                  <a:srgbClr val="EAEEF9"/>
                </a:solidFill>
                <a:latin typeface="Calibri" pitchFamily="34" charset="0"/>
                <a:ea typeface="Calibri" pitchFamily="34" charset="-122"/>
                <a:cs typeface="Calibri" pitchFamily="34" charset="-120"/>
              </a:rPr>
              <a:t>Expand &amp; retry</a:t>
            </a:r>
            <a:endParaRPr lang="en-US" sz="1400" dirty="0"/>
          </a:p>
        </p:txBody>
      </p:sp>
      <p:sp>
        <p:nvSpPr>
          <p:cNvPr id="28" name="Text 26"/>
          <p:cNvSpPr/>
          <p:nvPr/>
        </p:nvSpPr>
        <p:spPr>
          <a:xfrm>
            <a:off x="4937760" y="3310128"/>
            <a:ext cx="2743200" cy="640080"/>
          </a:xfrm>
          <a:prstGeom prst="rect">
            <a:avLst/>
          </a:prstGeom>
          <a:noFill/>
          <a:ln/>
        </p:spPr>
        <p:txBody>
          <a:bodyPr wrap="square" lIns="0" tIns="0" rIns="0" bIns="0" rtlCol="0" anchor="ctr"/>
          <a:lstStyle/>
          <a:p>
            <a:pPr marL="0" indent="0">
              <a:lnSpc>
                <a:spcPts val="1400"/>
              </a:lnSpc>
              <a:buNone/>
            </a:pPr>
            <a:r>
              <a:rPr lang="en-US" sz="1100" dirty="0">
                <a:solidFill>
                  <a:srgbClr val="97A3BF"/>
                </a:solidFill>
                <a:latin typeface="Calibri" pitchFamily="34" charset="0"/>
                <a:ea typeface="Calibri" pitchFamily="34" charset="-122"/>
                <a:cs typeface="Calibri" pitchFamily="34" charset="-120"/>
              </a:rPr>
              <a:t>On failure: expand query, re-retrieve with cumulative context</a:t>
            </a:r>
            <a:endParaRPr lang="en-US" sz="1100" dirty="0"/>
          </a:p>
        </p:txBody>
      </p:sp>
      <p:sp>
        <p:nvSpPr>
          <p:cNvPr id="29" name="Shape 27"/>
          <p:cNvSpPr/>
          <p:nvPr/>
        </p:nvSpPr>
        <p:spPr>
          <a:xfrm>
            <a:off x="8010144" y="2852928"/>
            <a:ext cx="3520440" cy="1207008"/>
          </a:xfrm>
          <a:prstGeom prst="roundRect">
            <a:avLst>
              <a:gd name="adj" fmla="val 6061"/>
            </a:avLst>
          </a:prstGeom>
          <a:solidFill>
            <a:srgbClr val="161E33"/>
          </a:solidFill>
          <a:ln w="12700">
            <a:solidFill>
              <a:srgbClr val="1E2740"/>
            </a:solidFill>
            <a:prstDash val="solid"/>
          </a:ln>
        </p:spPr>
        <p:txBody>
          <a:bodyPr/>
          <a:lstStyle/>
          <a:p>
            <a:endParaRPr lang="en-PK"/>
          </a:p>
        </p:txBody>
      </p:sp>
      <p:sp>
        <p:nvSpPr>
          <p:cNvPr id="30" name="Shape 28"/>
          <p:cNvSpPr/>
          <p:nvPr/>
        </p:nvSpPr>
        <p:spPr>
          <a:xfrm>
            <a:off x="8211312" y="3035808"/>
            <a:ext cx="310896" cy="310896"/>
          </a:xfrm>
          <a:prstGeom prst="ellipse">
            <a:avLst/>
          </a:prstGeom>
          <a:solidFill>
            <a:srgbClr val="34D399"/>
          </a:solidFill>
          <a:ln w="12700">
            <a:solidFill>
              <a:srgbClr val="34D399"/>
            </a:solidFill>
            <a:prstDash val="solid"/>
          </a:ln>
        </p:spPr>
        <p:txBody>
          <a:bodyPr/>
          <a:lstStyle/>
          <a:p>
            <a:endParaRPr lang="en-PK"/>
          </a:p>
        </p:txBody>
      </p:sp>
      <p:sp>
        <p:nvSpPr>
          <p:cNvPr id="31" name="Text 29"/>
          <p:cNvSpPr/>
          <p:nvPr/>
        </p:nvSpPr>
        <p:spPr>
          <a:xfrm>
            <a:off x="8211312" y="3035808"/>
            <a:ext cx="310896" cy="310896"/>
          </a:xfrm>
          <a:prstGeom prst="rect">
            <a:avLst/>
          </a:prstGeom>
          <a:noFill/>
          <a:ln/>
        </p:spPr>
        <p:txBody>
          <a:bodyPr wrap="square" lIns="0" tIns="0" rIns="0" bIns="0" rtlCol="0" anchor="ctr"/>
          <a:lstStyle/>
          <a:p>
            <a:pPr marL="0" indent="0" algn="ctr">
              <a:buNone/>
            </a:pPr>
            <a:r>
              <a:rPr lang="en-US" sz="1200" b="1" dirty="0">
                <a:solidFill>
                  <a:srgbClr val="0B1020"/>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8668512" y="3017520"/>
            <a:ext cx="2743200" cy="274320"/>
          </a:xfrm>
          <a:prstGeom prst="rect">
            <a:avLst/>
          </a:prstGeom>
          <a:noFill/>
          <a:ln/>
        </p:spPr>
        <p:txBody>
          <a:bodyPr wrap="square" lIns="0" tIns="0" rIns="0" bIns="0" rtlCol="0" anchor="ctr"/>
          <a:lstStyle/>
          <a:p>
            <a:pPr marL="0" indent="0">
              <a:buNone/>
            </a:pPr>
            <a:r>
              <a:rPr lang="en-US" sz="1400" b="1" dirty="0">
                <a:solidFill>
                  <a:srgbClr val="EAEEF9"/>
                </a:solidFill>
                <a:latin typeface="Calibri" pitchFamily="34" charset="0"/>
                <a:ea typeface="Calibri" pitchFamily="34" charset="-122"/>
                <a:cs typeface="Calibri" pitchFamily="34" charset="-120"/>
              </a:rPr>
              <a:t>Cross-reference</a:t>
            </a:r>
            <a:endParaRPr lang="en-US" sz="1400" dirty="0"/>
          </a:p>
        </p:txBody>
      </p:sp>
      <p:sp>
        <p:nvSpPr>
          <p:cNvPr id="33" name="Text 31"/>
          <p:cNvSpPr/>
          <p:nvPr/>
        </p:nvSpPr>
        <p:spPr>
          <a:xfrm>
            <a:off x="8668512" y="3310128"/>
            <a:ext cx="2743200" cy="640080"/>
          </a:xfrm>
          <a:prstGeom prst="rect">
            <a:avLst/>
          </a:prstGeom>
          <a:noFill/>
          <a:ln/>
        </p:spPr>
        <p:txBody>
          <a:bodyPr wrap="square" lIns="0" tIns="0" rIns="0" bIns="0" rtlCol="0" anchor="ctr"/>
          <a:lstStyle/>
          <a:p>
            <a:pPr marL="0" indent="0">
              <a:lnSpc>
                <a:spcPts val="1400"/>
              </a:lnSpc>
              <a:buNone/>
            </a:pPr>
            <a:r>
              <a:rPr lang="en-US" sz="1100" dirty="0">
                <a:solidFill>
                  <a:srgbClr val="97A3BF"/>
                </a:solidFill>
                <a:latin typeface="Calibri" pitchFamily="34" charset="0"/>
                <a:ea typeface="Calibri" pitchFamily="34" charset="-122"/>
                <a:cs typeface="Calibri" pitchFamily="34" charset="-120"/>
              </a:rPr>
              <a:t>Do the sources agree, differ, or contradict?</a:t>
            </a:r>
            <a:endParaRPr lang="en-US" sz="1100" dirty="0"/>
          </a:p>
        </p:txBody>
      </p:sp>
      <p:sp>
        <p:nvSpPr>
          <p:cNvPr id="34" name="Shape 32"/>
          <p:cNvSpPr/>
          <p:nvPr/>
        </p:nvSpPr>
        <p:spPr>
          <a:xfrm>
            <a:off x="548640" y="4343400"/>
            <a:ext cx="11064240" cy="1691640"/>
          </a:xfrm>
          <a:prstGeom prst="roundRect">
            <a:avLst>
              <a:gd name="adj" fmla="val 4324"/>
            </a:avLst>
          </a:prstGeom>
          <a:solidFill>
            <a:srgbClr val="1E2740"/>
          </a:solidFill>
          <a:ln w="12700">
            <a:solidFill>
              <a:srgbClr val="1E2740"/>
            </a:solidFill>
            <a:prstDash val="solid"/>
          </a:ln>
        </p:spPr>
        <p:txBody>
          <a:bodyPr/>
          <a:lstStyle/>
          <a:p>
            <a:endParaRPr lang="en-PK"/>
          </a:p>
        </p:txBody>
      </p:sp>
      <p:sp>
        <p:nvSpPr>
          <p:cNvPr id="35" name="Text 33"/>
          <p:cNvSpPr/>
          <p:nvPr/>
        </p:nvSpPr>
        <p:spPr>
          <a:xfrm>
            <a:off x="822960" y="4498848"/>
            <a:ext cx="4937760" cy="274320"/>
          </a:xfrm>
          <a:prstGeom prst="rect">
            <a:avLst/>
          </a:prstGeom>
          <a:noFill/>
          <a:ln/>
        </p:spPr>
        <p:txBody>
          <a:bodyPr wrap="square" lIns="0" tIns="0" rIns="0" bIns="0" rtlCol="0" anchor="ctr"/>
          <a:lstStyle/>
          <a:p>
            <a:pPr marL="0" indent="0">
              <a:buNone/>
            </a:pPr>
            <a:r>
              <a:rPr lang="en-US" sz="1500" b="1" dirty="0">
                <a:solidFill>
                  <a:srgbClr val="22D3EE"/>
                </a:solidFill>
                <a:latin typeface="Calibri" pitchFamily="34" charset="0"/>
                <a:ea typeface="Calibri" pitchFamily="34" charset="-122"/>
                <a:cs typeface="Calibri" pitchFamily="34" charset="-120"/>
              </a:rPr>
              <a:t>Why two model calls per answer?</a:t>
            </a:r>
            <a:endParaRPr lang="en-US" sz="1500" dirty="0"/>
          </a:p>
        </p:txBody>
      </p:sp>
      <p:sp>
        <p:nvSpPr>
          <p:cNvPr id="36" name="Text 34"/>
          <p:cNvSpPr/>
          <p:nvPr/>
        </p:nvSpPr>
        <p:spPr>
          <a:xfrm>
            <a:off x="822960" y="4828032"/>
            <a:ext cx="5120640" cy="1097280"/>
          </a:xfrm>
          <a:prstGeom prst="rect">
            <a:avLst/>
          </a:prstGeom>
          <a:noFill/>
          <a:ln/>
        </p:spPr>
        <p:txBody>
          <a:bodyPr wrap="square" lIns="0" tIns="0" rIns="0" bIns="0" rtlCol="0" anchor="ctr"/>
          <a:lstStyle/>
          <a:p>
            <a:pPr marL="0" indent="0">
              <a:lnSpc>
                <a:spcPts val="1500"/>
              </a:lnSpc>
              <a:buNone/>
            </a:pPr>
            <a:r>
              <a:rPr lang="en-US" sz="1150" dirty="0">
                <a:solidFill>
                  <a:srgbClr val="97A3BF"/>
                </a:solidFill>
                <a:latin typeface="Calibri" pitchFamily="34" charset="0"/>
                <a:ea typeface="Calibri" pitchFamily="34" charset="-122"/>
                <a:cs typeface="Calibri" pitchFamily="34" charset="-120"/>
              </a:rPr>
              <a:t>Generation and verification are separate concerns. A model grading its own answer in the same breath just agrees with itself — so the grounding gate is an independent call with a strict prompt. If it fails, we expand the query and retry once with MORE context, never less. If it still can't be verified, the user gets an honest disclaimer instead of a confident guess.</a:t>
            </a:r>
            <a:endParaRPr lang="en-US" sz="1150" dirty="0"/>
          </a:p>
        </p:txBody>
      </p:sp>
      <p:sp>
        <p:nvSpPr>
          <p:cNvPr id="37" name="Text 35"/>
          <p:cNvSpPr/>
          <p:nvPr/>
        </p:nvSpPr>
        <p:spPr>
          <a:xfrm>
            <a:off x="6309360" y="4553712"/>
            <a:ext cx="1371600" cy="256032"/>
          </a:xfrm>
          <a:prstGeom prst="rect">
            <a:avLst/>
          </a:prstGeom>
          <a:noFill/>
          <a:ln/>
        </p:spPr>
        <p:txBody>
          <a:bodyPr wrap="square" lIns="0" tIns="0" rIns="0" bIns="0" rtlCol="0" anchor="ctr"/>
          <a:lstStyle/>
          <a:p>
            <a:pPr marL="0" indent="0">
              <a:buNone/>
            </a:pPr>
            <a:r>
              <a:rPr lang="en-US" sz="1150" b="1" dirty="0">
                <a:solidFill>
                  <a:srgbClr val="EAEEF9"/>
                </a:solidFill>
                <a:latin typeface="Calibri" pitchFamily="34" charset="0"/>
                <a:ea typeface="Calibri" pitchFamily="34" charset="-122"/>
                <a:cs typeface="Calibri" pitchFamily="34" charset="-120"/>
              </a:rPr>
              <a:t>Embeddings</a:t>
            </a:r>
            <a:endParaRPr lang="en-US" sz="1150" dirty="0"/>
          </a:p>
        </p:txBody>
      </p:sp>
      <p:sp>
        <p:nvSpPr>
          <p:cNvPr id="38" name="Text 36"/>
          <p:cNvSpPr/>
          <p:nvPr/>
        </p:nvSpPr>
        <p:spPr>
          <a:xfrm>
            <a:off x="7680960" y="4553712"/>
            <a:ext cx="3794760" cy="256032"/>
          </a:xfrm>
          <a:prstGeom prst="rect">
            <a:avLst/>
          </a:prstGeom>
          <a:noFill/>
          <a:ln/>
        </p:spPr>
        <p:txBody>
          <a:bodyPr wrap="square" lIns="0" tIns="0" rIns="0" bIns="0" rtlCol="0" anchor="ctr"/>
          <a:lstStyle/>
          <a:p>
            <a:pPr marL="0" indent="0">
              <a:buNone/>
            </a:pPr>
            <a:r>
              <a:rPr lang="en-US" sz="1150" dirty="0">
                <a:solidFill>
                  <a:srgbClr val="97A3BF"/>
                </a:solidFill>
                <a:latin typeface="Calibri" pitchFamily="34" charset="0"/>
                <a:ea typeface="Calibri" pitchFamily="34" charset="-122"/>
                <a:cs typeface="Calibri" pitchFamily="34" charset="-120"/>
              </a:rPr>
              <a:t>BAAI/bge-small-en-v1.5 · 384-dim · local, Apple-Silicon MPS</a:t>
            </a:r>
            <a:endParaRPr lang="en-US" sz="1150" dirty="0"/>
          </a:p>
        </p:txBody>
      </p:sp>
      <p:sp>
        <p:nvSpPr>
          <p:cNvPr id="39" name="Text 37"/>
          <p:cNvSpPr/>
          <p:nvPr/>
        </p:nvSpPr>
        <p:spPr>
          <a:xfrm>
            <a:off x="6309360" y="5010912"/>
            <a:ext cx="1371600" cy="256032"/>
          </a:xfrm>
          <a:prstGeom prst="rect">
            <a:avLst/>
          </a:prstGeom>
          <a:noFill/>
          <a:ln/>
        </p:spPr>
        <p:txBody>
          <a:bodyPr wrap="square" lIns="0" tIns="0" rIns="0" bIns="0" rtlCol="0" anchor="ctr"/>
          <a:lstStyle/>
          <a:p>
            <a:pPr marL="0" indent="0">
              <a:buNone/>
            </a:pPr>
            <a:r>
              <a:rPr lang="en-US" sz="1150" b="1" dirty="0">
                <a:solidFill>
                  <a:srgbClr val="EAEEF9"/>
                </a:solidFill>
                <a:latin typeface="Calibri" pitchFamily="34" charset="0"/>
                <a:ea typeface="Calibri" pitchFamily="34" charset="-122"/>
                <a:cs typeface="Calibri" pitchFamily="34" charset="-120"/>
              </a:rPr>
              <a:t>Retrieval</a:t>
            </a:r>
            <a:endParaRPr lang="en-US" sz="1150" dirty="0"/>
          </a:p>
        </p:txBody>
      </p:sp>
      <p:sp>
        <p:nvSpPr>
          <p:cNvPr id="40" name="Text 38"/>
          <p:cNvSpPr/>
          <p:nvPr/>
        </p:nvSpPr>
        <p:spPr>
          <a:xfrm>
            <a:off x="7680960" y="5010912"/>
            <a:ext cx="3794760" cy="256032"/>
          </a:xfrm>
          <a:prstGeom prst="rect">
            <a:avLst/>
          </a:prstGeom>
          <a:noFill/>
          <a:ln/>
        </p:spPr>
        <p:txBody>
          <a:bodyPr wrap="square" lIns="0" tIns="0" rIns="0" bIns="0" rtlCol="0" anchor="ctr"/>
          <a:lstStyle/>
          <a:p>
            <a:pPr marL="0" indent="0">
              <a:buNone/>
            </a:pPr>
            <a:r>
              <a:rPr lang="en-US" sz="1150" dirty="0">
                <a:solidFill>
                  <a:srgbClr val="97A3BF"/>
                </a:solidFill>
                <a:latin typeface="Calibri" pitchFamily="34" charset="0"/>
                <a:ea typeface="Calibri" pitchFamily="34" charset="-122"/>
                <a:cs typeface="Calibri" pitchFamily="34" charset="-120"/>
              </a:rPr>
              <a:t>top-15 dense + top-15 sparse → RRF → top-5 excerpts</a:t>
            </a:r>
            <a:endParaRPr lang="en-US" sz="1150" dirty="0"/>
          </a:p>
        </p:txBody>
      </p:sp>
      <p:sp>
        <p:nvSpPr>
          <p:cNvPr id="41" name="Text 39"/>
          <p:cNvSpPr/>
          <p:nvPr/>
        </p:nvSpPr>
        <p:spPr>
          <a:xfrm>
            <a:off x="6309360" y="5468112"/>
            <a:ext cx="1371600" cy="256032"/>
          </a:xfrm>
          <a:prstGeom prst="rect">
            <a:avLst/>
          </a:prstGeom>
          <a:noFill/>
          <a:ln/>
        </p:spPr>
        <p:txBody>
          <a:bodyPr wrap="square" lIns="0" tIns="0" rIns="0" bIns="0" rtlCol="0" anchor="ctr"/>
          <a:lstStyle/>
          <a:p>
            <a:pPr marL="0" indent="0">
              <a:buNone/>
            </a:pPr>
            <a:r>
              <a:rPr lang="en-US" sz="1150" b="1" dirty="0">
                <a:solidFill>
                  <a:srgbClr val="EAEEF9"/>
                </a:solidFill>
                <a:latin typeface="Calibri" pitchFamily="34" charset="0"/>
                <a:ea typeface="Calibri" pitchFamily="34" charset="-122"/>
                <a:cs typeface="Calibri" pitchFamily="34" charset="-120"/>
              </a:rPr>
              <a:t>Observed</a:t>
            </a:r>
            <a:endParaRPr lang="en-US" sz="1150" dirty="0"/>
          </a:p>
        </p:txBody>
      </p:sp>
      <p:sp>
        <p:nvSpPr>
          <p:cNvPr id="42" name="Text 40"/>
          <p:cNvSpPr/>
          <p:nvPr/>
        </p:nvSpPr>
        <p:spPr>
          <a:xfrm>
            <a:off x="7680960" y="5468112"/>
            <a:ext cx="3794760" cy="256032"/>
          </a:xfrm>
          <a:prstGeom prst="rect">
            <a:avLst/>
          </a:prstGeom>
          <a:noFill/>
          <a:ln/>
        </p:spPr>
        <p:txBody>
          <a:bodyPr wrap="square" lIns="0" tIns="0" rIns="0" bIns="0" rtlCol="0" anchor="ctr"/>
          <a:lstStyle/>
          <a:p>
            <a:pPr marL="0" indent="0">
              <a:buNone/>
            </a:pPr>
            <a:r>
              <a:rPr lang="en-US" sz="1150" dirty="0">
                <a:solidFill>
                  <a:srgbClr val="97A3BF"/>
                </a:solidFill>
                <a:latin typeface="Calibri" pitchFamily="34" charset="0"/>
                <a:ea typeface="Calibri" pitchFamily="34" charset="-122"/>
                <a:cs typeface="Calibri" pitchFamily="34" charset="-120"/>
              </a:rPr>
              <a:t>retrieval ≈ 0.6s over 39,953 chunks; generation ≈ 0.6s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48640" y="384048"/>
            <a:ext cx="12057888" cy="548640"/>
          </a:xfrm>
          <a:prstGeom prst="rect">
            <a:avLst/>
          </a:prstGeom>
          <a:noFill/>
          <a:ln/>
        </p:spPr>
        <p:txBody>
          <a:bodyPr wrap="square" lIns="0" tIns="0" rIns="0" bIns="0" rtlCol="0" anchor="ctr"/>
          <a:lstStyle/>
          <a:p>
            <a:pPr marL="0" indent="0">
              <a:buNone/>
            </a:pPr>
            <a:r>
              <a:rPr lang="en-US" sz="2800" b="1" dirty="0">
                <a:solidFill>
                  <a:srgbClr val="EAEEF9"/>
                </a:solidFill>
                <a:latin typeface="Calibri" pitchFamily="34" charset="0"/>
                <a:ea typeface="Calibri" pitchFamily="34" charset="-122"/>
                <a:cs typeface="Calibri" pitchFamily="34" charset="-120"/>
              </a:rPr>
              <a:t>Beyond retrieval: tools, live web, MCP, and your own documents</a:t>
            </a:r>
            <a:endParaRPr lang="en-US" sz="2800" dirty="0"/>
          </a:p>
        </p:txBody>
      </p:sp>
      <p:sp>
        <p:nvSpPr>
          <p:cNvPr id="3" name="Text 1"/>
          <p:cNvSpPr/>
          <p:nvPr/>
        </p:nvSpPr>
        <p:spPr>
          <a:xfrm>
            <a:off x="548640" y="1143000"/>
            <a:ext cx="11064240" cy="292608"/>
          </a:xfrm>
          <a:prstGeom prst="rect">
            <a:avLst/>
          </a:prstGeom>
          <a:noFill/>
          <a:ln/>
        </p:spPr>
        <p:txBody>
          <a:bodyPr wrap="square" lIns="0" tIns="0" rIns="0" bIns="0" rtlCol="0" anchor="ctr"/>
          <a:lstStyle/>
          <a:p>
            <a:pPr marL="0" indent="0">
              <a:buNone/>
            </a:pPr>
            <a:r>
              <a:rPr lang="en-US" sz="1350" dirty="0">
                <a:solidFill>
                  <a:srgbClr val="97A3BF"/>
                </a:solidFill>
                <a:latin typeface="Calibri" pitchFamily="34" charset="0"/>
                <a:ea typeface="Calibri" pitchFamily="34" charset="-122"/>
                <a:cs typeface="Calibri" pitchFamily="34" charset="-120"/>
              </a:rPr>
              <a:t>The agent isn't limited to the corpus — and you watch it decide</a:t>
            </a:r>
            <a:endParaRPr lang="en-US" sz="1350" dirty="0"/>
          </a:p>
        </p:txBody>
      </p:sp>
      <p:sp>
        <p:nvSpPr>
          <p:cNvPr id="4" name="Shape 2"/>
          <p:cNvSpPr/>
          <p:nvPr/>
        </p:nvSpPr>
        <p:spPr>
          <a:xfrm>
            <a:off x="548640" y="1481328"/>
            <a:ext cx="5440680" cy="2194560"/>
          </a:xfrm>
          <a:prstGeom prst="roundRect">
            <a:avLst>
              <a:gd name="adj" fmla="val 3333"/>
            </a:avLst>
          </a:prstGeom>
          <a:solidFill>
            <a:srgbClr val="161E33"/>
          </a:solidFill>
          <a:ln w="12700">
            <a:solidFill>
              <a:srgbClr val="1E2740"/>
            </a:solidFill>
            <a:prstDash val="solid"/>
          </a:ln>
        </p:spPr>
        <p:txBody>
          <a:bodyPr/>
          <a:lstStyle/>
          <a:p>
            <a:endParaRPr lang="en-PK"/>
          </a:p>
        </p:txBody>
      </p:sp>
      <p:sp>
        <p:nvSpPr>
          <p:cNvPr id="5" name="Shape 3"/>
          <p:cNvSpPr/>
          <p:nvPr/>
        </p:nvSpPr>
        <p:spPr>
          <a:xfrm>
            <a:off x="804672" y="1719072"/>
            <a:ext cx="146304" cy="146304"/>
          </a:xfrm>
          <a:prstGeom prst="ellipse">
            <a:avLst/>
          </a:prstGeom>
          <a:solidFill>
            <a:srgbClr val="22D3EE"/>
          </a:solidFill>
          <a:ln w="12700">
            <a:solidFill>
              <a:srgbClr val="22D3EE"/>
            </a:solidFill>
            <a:prstDash val="solid"/>
          </a:ln>
        </p:spPr>
        <p:txBody>
          <a:bodyPr/>
          <a:lstStyle/>
          <a:p>
            <a:endParaRPr lang="en-PK"/>
          </a:p>
        </p:txBody>
      </p:sp>
      <p:sp>
        <p:nvSpPr>
          <p:cNvPr id="6" name="Text 4"/>
          <p:cNvSpPr/>
          <p:nvPr/>
        </p:nvSpPr>
        <p:spPr>
          <a:xfrm>
            <a:off x="1060704" y="1627632"/>
            <a:ext cx="4663440" cy="310896"/>
          </a:xfrm>
          <a:prstGeom prst="rect">
            <a:avLst/>
          </a:prstGeom>
          <a:noFill/>
          <a:ln/>
        </p:spPr>
        <p:txBody>
          <a:bodyPr wrap="square" lIns="0" tIns="0" rIns="0" bIns="0" rtlCol="0" anchor="ctr"/>
          <a:lstStyle/>
          <a:p>
            <a:pPr marL="0" indent="0">
              <a:buNone/>
            </a:pPr>
            <a:r>
              <a:rPr lang="en-US" sz="1600" b="1" dirty="0">
                <a:solidFill>
                  <a:srgbClr val="EAEEF9"/>
                </a:solidFill>
                <a:latin typeface="Calibri" pitchFamily="34" charset="0"/>
                <a:ea typeface="Calibri" pitchFamily="34" charset="-122"/>
                <a:cs typeface="Calibri" pitchFamily="34" charset="-120"/>
              </a:rPr>
              <a:t>Function / tool calling</a:t>
            </a:r>
            <a:endParaRPr lang="en-US" sz="1600" dirty="0"/>
          </a:p>
        </p:txBody>
      </p:sp>
      <p:sp>
        <p:nvSpPr>
          <p:cNvPr id="7" name="Text 5"/>
          <p:cNvSpPr/>
          <p:nvPr/>
        </p:nvSpPr>
        <p:spPr>
          <a:xfrm>
            <a:off x="822960" y="2048256"/>
            <a:ext cx="4937760" cy="146304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97A3BF"/>
                </a:solidFill>
                <a:latin typeface="Calibri" pitchFamily="34" charset="0"/>
                <a:ea typeface="Calibri" pitchFamily="34" charset="-122"/>
                <a:cs typeface="Calibri" pitchFamily="34" charset="-120"/>
              </a:rPr>
              <a:t>6 built-in tools, all free &amp; keyless APIs</a:t>
            </a:r>
            <a:endParaRPr lang="en-US" sz="1150" dirty="0"/>
          </a:p>
          <a:p>
            <a:pPr marL="342900" indent="-342900">
              <a:lnSpc>
                <a:spcPts val="1500"/>
              </a:lnSpc>
              <a:spcAft>
                <a:spcPts val="600"/>
              </a:spcAft>
              <a:buSzPct val="100000"/>
              <a:buChar char="•"/>
            </a:pPr>
            <a:r>
              <a:rPr lang="en-US" sz="1150" dirty="0">
                <a:solidFill>
                  <a:srgbClr val="97A3BF"/>
                </a:solidFill>
                <a:latin typeface="Calibri" pitchFamily="34" charset="0"/>
                <a:ea typeface="Calibri" pitchFamily="34" charset="-122"/>
                <a:cs typeface="Calibri" pitchFamily="34" charset="-120"/>
              </a:rPr>
              <a:t>Stock (Yahoo) · Weather (Open-Meteo) · FX (Frankfurter) · Crypto · Calculator · Time</a:t>
            </a:r>
            <a:endParaRPr lang="en-US" sz="1150" dirty="0"/>
          </a:p>
          <a:p>
            <a:pPr marL="342900" indent="-342900">
              <a:lnSpc>
                <a:spcPts val="1500"/>
              </a:lnSpc>
              <a:spcAft>
                <a:spcPts val="600"/>
              </a:spcAft>
              <a:buSzPct val="100000"/>
              <a:buChar char="•"/>
            </a:pPr>
            <a:r>
              <a:rPr lang="en-US" sz="1150" dirty="0">
                <a:solidFill>
                  <a:srgbClr val="97A3BF"/>
                </a:solidFill>
                <a:latin typeface="Calibri" pitchFamily="34" charset="0"/>
                <a:ea typeface="Calibri" pitchFamily="34" charset="-122"/>
                <a:cs typeface="Calibri" pitchFamily="34" charset="-120"/>
              </a:rPr>
              <a:t>Verified live: NVDA $203.53 · 500 USD → 437.67 EUR</a:t>
            </a:r>
            <a:endParaRPr lang="en-US" sz="1150" dirty="0"/>
          </a:p>
        </p:txBody>
      </p:sp>
      <p:sp>
        <p:nvSpPr>
          <p:cNvPr id="8" name="Shape 6"/>
          <p:cNvSpPr/>
          <p:nvPr/>
        </p:nvSpPr>
        <p:spPr>
          <a:xfrm>
            <a:off x="6172200" y="1481328"/>
            <a:ext cx="5440680" cy="2194560"/>
          </a:xfrm>
          <a:prstGeom prst="roundRect">
            <a:avLst>
              <a:gd name="adj" fmla="val 3333"/>
            </a:avLst>
          </a:prstGeom>
          <a:solidFill>
            <a:srgbClr val="161E33"/>
          </a:solidFill>
          <a:ln w="12700">
            <a:solidFill>
              <a:srgbClr val="1E2740"/>
            </a:solidFill>
            <a:prstDash val="solid"/>
          </a:ln>
        </p:spPr>
        <p:txBody>
          <a:bodyPr/>
          <a:lstStyle/>
          <a:p>
            <a:endParaRPr lang="en-PK"/>
          </a:p>
        </p:txBody>
      </p:sp>
      <p:sp>
        <p:nvSpPr>
          <p:cNvPr id="9" name="Shape 7"/>
          <p:cNvSpPr/>
          <p:nvPr/>
        </p:nvSpPr>
        <p:spPr>
          <a:xfrm>
            <a:off x="6428232" y="1719072"/>
            <a:ext cx="146304" cy="146304"/>
          </a:xfrm>
          <a:prstGeom prst="ellipse">
            <a:avLst/>
          </a:prstGeom>
          <a:solidFill>
            <a:srgbClr val="6366F1"/>
          </a:solidFill>
          <a:ln w="12700">
            <a:solidFill>
              <a:srgbClr val="6366F1"/>
            </a:solidFill>
            <a:prstDash val="solid"/>
          </a:ln>
        </p:spPr>
        <p:txBody>
          <a:bodyPr/>
          <a:lstStyle/>
          <a:p>
            <a:endParaRPr lang="en-PK"/>
          </a:p>
        </p:txBody>
      </p:sp>
      <p:sp>
        <p:nvSpPr>
          <p:cNvPr id="10" name="Text 8"/>
          <p:cNvSpPr/>
          <p:nvPr/>
        </p:nvSpPr>
        <p:spPr>
          <a:xfrm>
            <a:off x="6684264" y="1627632"/>
            <a:ext cx="4663440" cy="310896"/>
          </a:xfrm>
          <a:prstGeom prst="rect">
            <a:avLst/>
          </a:prstGeom>
          <a:noFill/>
          <a:ln/>
        </p:spPr>
        <p:txBody>
          <a:bodyPr wrap="square" lIns="0" tIns="0" rIns="0" bIns="0" rtlCol="0" anchor="ctr"/>
          <a:lstStyle/>
          <a:p>
            <a:pPr marL="0" indent="0">
              <a:buNone/>
            </a:pPr>
            <a:r>
              <a:rPr lang="en-US" sz="1600" b="1" dirty="0">
                <a:solidFill>
                  <a:srgbClr val="EAEEF9"/>
                </a:solidFill>
                <a:latin typeface="Calibri" pitchFamily="34" charset="0"/>
                <a:ea typeface="Calibri" pitchFamily="34" charset="-122"/>
                <a:cs typeface="Calibri" pitchFamily="34" charset="-120"/>
              </a:rPr>
              <a:t>Internet search</a:t>
            </a:r>
            <a:endParaRPr lang="en-US" sz="1600" dirty="0"/>
          </a:p>
        </p:txBody>
      </p:sp>
      <p:sp>
        <p:nvSpPr>
          <p:cNvPr id="11" name="Text 9"/>
          <p:cNvSpPr/>
          <p:nvPr/>
        </p:nvSpPr>
        <p:spPr>
          <a:xfrm>
            <a:off x="6446520" y="2048256"/>
            <a:ext cx="4937760" cy="146304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97A3BF"/>
                </a:solidFill>
                <a:latin typeface="Calibri" pitchFamily="34" charset="0"/>
                <a:ea typeface="Calibri" pitchFamily="34" charset="-122"/>
                <a:cs typeface="Calibri" pitchFamily="34" charset="-120"/>
              </a:rPr>
              <a:t>Keyless DuckDuckGo for fresh / out-of-corpus questions</a:t>
            </a:r>
            <a:endParaRPr lang="en-US" sz="1150" dirty="0"/>
          </a:p>
          <a:p>
            <a:pPr marL="342900" indent="-342900">
              <a:lnSpc>
                <a:spcPts val="1500"/>
              </a:lnSpc>
              <a:spcAft>
                <a:spcPts val="600"/>
              </a:spcAft>
              <a:buSzPct val="100000"/>
              <a:buChar char="•"/>
            </a:pPr>
            <a:r>
              <a:rPr lang="en-US" sz="1150" dirty="0">
                <a:solidFill>
                  <a:srgbClr val="97A3BF"/>
                </a:solidFill>
                <a:latin typeface="Calibri" pitchFamily="34" charset="0"/>
                <a:ea typeface="Calibri" pitchFamily="34" charset="-122"/>
                <a:cs typeface="Calibri" pitchFamily="34" charset="-120"/>
              </a:rPr>
              <a:t>Answers synthesised with inline [1][2] citations</a:t>
            </a:r>
            <a:endParaRPr lang="en-US" sz="1150" dirty="0"/>
          </a:p>
          <a:p>
            <a:pPr marL="342900" indent="-342900">
              <a:lnSpc>
                <a:spcPts val="1500"/>
              </a:lnSpc>
              <a:spcAft>
                <a:spcPts val="600"/>
              </a:spcAft>
              <a:buSzPct val="100000"/>
              <a:buChar char="•"/>
            </a:pPr>
            <a:r>
              <a:rPr lang="en-US" sz="1150" dirty="0">
                <a:solidFill>
                  <a:srgbClr val="97A3BF"/>
                </a:solidFill>
                <a:latin typeface="Calibri" pitchFamily="34" charset="0"/>
                <a:ea typeface="Calibri" pitchFamily="34" charset="-122"/>
                <a:cs typeface="Calibri" pitchFamily="34" charset="-120"/>
              </a:rPr>
              <a:t>Clickable web sources in the run inspector</a:t>
            </a:r>
            <a:endParaRPr lang="en-US" sz="1150" dirty="0"/>
          </a:p>
        </p:txBody>
      </p:sp>
      <p:sp>
        <p:nvSpPr>
          <p:cNvPr id="12" name="Shape 10"/>
          <p:cNvSpPr/>
          <p:nvPr/>
        </p:nvSpPr>
        <p:spPr>
          <a:xfrm>
            <a:off x="548640" y="3858768"/>
            <a:ext cx="5440680" cy="2194560"/>
          </a:xfrm>
          <a:prstGeom prst="roundRect">
            <a:avLst>
              <a:gd name="adj" fmla="val 3333"/>
            </a:avLst>
          </a:prstGeom>
          <a:solidFill>
            <a:srgbClr val="161E33"/>
          </a:solidFill>
          <a:ln w="12700">
            <a:solidFill>
              <a:srgbClr val="1E2740"/>
            </a:solidFill>
            <a:prstDash val="solid"/>
          </a:ln>
        </p:spPr>
        <p:txBody>
          <a:bodyPr/>
          <a:lstStyle/>
          <a:p>
            <a:endParaRPr lang="en-PK"/>
          </a:p>
        </p:txBody>
      </p:sp>
      <p:sp>
        <p:nvSpPr>
          <p:cNvPr id="13" name="Shape 11"/>
          <p:cNvSpPr/>
          <p:nvPr/>
        </p:nvSpPr>
        <p:spPr>
          <a:xfrm>
            <a:off x="804672" y="4096512"/>
            <a:ext cx="146304" cy="146304"/>
          </a:xfrm>
          <a:prstGeom prst="ellipse">
            <a:avLst/>
          </a:prstGeom>
          <a:solidFill>
            <a:srgbClr val="E879F9"/>
          </a:solidFill>
          <a:ln w="12700">
            <a:solidFill>
              <a:srgbClr val="E879F9"/>
            </a:solidFill>
            <a:prstDash val="solid"/>
          </a:ln>
        </p:spPr>
        <p:txBody>
          <a:bodyPr/>
          <a:lstStyle/>
          <a:p>
            <a:endParaRPr lang="en-PK"/>
          </a:p>
        </p:txBody>
      </p:sp>
      <p:sp>
        <p:nvSpPr>
          <p:cNvPr id="14" name="Text 12"/>
          <p:cNvSpPr/>
          <p:nvPr/>
        </p:nvSpPr>
        <p:spPr>
          <a:xfrm>
            <a:off x="1060704" y="4005072"/>
            <a:ext cx="4663440" cy="310896"/>
          </a:xfrm>
          <a:prstGeom prst="rect">
            <a:avLst/>
          </a:prstGeom>
          <a:noFill/>
          <a:ln/>
        </p:spPr>
        <p:txBody>
          <a:bodyPr wrap="square" lIns="0" tIns="0" rIns="0" bIns="0" rtlCol="0" anchor="ctr"/>
          <a:lstStyle/>
          <a:p>
            <a:pPr marL="0" indent="0">
              <a:buNone/>
            </a:pPr>
            <a:r>
              <a:rPr lang="en-US" sz="1600" b="1" dirty="0">
                <a:solidFill>
                  <a:srgbClr val="EAEEF9"/>
                </a:solidFill>
                <a:latin typeface="Calibri" pitchFamily="34" charset="0"/>
                <a:ea typeface="Calibri" pitchFamily="34" charset="-122"/>
                <a:cs typeface="Calibri" pitchFamily="34" charset="-120"/>
              </a:rPr>
              <a:t>MCP integration</a:t>
            </a:r>
            <a:endParaRPr lang="en-US" sz="1600" dirty="0"/>
          </a:p>
        </p:txBody>
      </p:sp>
      <p:sp>
        <p:nvSpPr>
          <p:cNvPr id="15" name="Text 13"/>
          <p:cNvSpPr/>
          <p:nvPr/>
        </p:nvSpPr>
        <p:spPr>
          <a:xfrm>
            <a:off x="822960" y="4425696"/>
            <a:ext cx="4937760" cy="146304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97A3BF"/>
                </a:solidFill>
                <a:latin typeface="Calibri" pitchFamily="34" charset="0"/>
                <a:ea typeface="Calibri" pitchFamily="34" charset="-122"/>
                <a:cs typeface="Calibri" pitchFamily="34" charset="-120"/>
              </a:rPr>
              <a:t>Real MCP client (stdio JSON-RPC), standard mcpServers config</a:t>
            </a:r>
            <a:endParaRPr lang="en-US" sz="1150" dirty="0"/>
          </a:p>
          <a:p>
            <a:pPr marL="342900" indent="-342900">
              <a:lnSpc>
                <a:spcPts val="1500"/>
              </a:lnSpc>
              <a:spcAft>
                <a:spcPts val="600"/>
              </a:spcAft>
              <a:buSzPct val="100000"/>
              <a:buChar char="•"/>
            </a:pPr>
            <a:r>
              <a:rPr lang="en-US" sz="1150" dirty="0">
                <a:solidFill>
                  <a:srgbClr val="97A3BF"/>
                </a:solidFill>
                <a:latin typeface="Calibri" pitchFamily="34" charset="0"/>
                <a:ea typeface="Calibri" pitchFamily="34" charset="-122"/>
                <a:cs typeface="Calibri" pitchFamily="34" charset="-120"/>
              </a:rPr>
              <a:t>Auto-discovers any third-party MCP server's tools</a:t>
            </a:r>
            <a:endParaRPr lang="en-US" sz="1150" dirty="0"/>
          </a:p>
          <a:p>
            <a:pPr marL="342900" indent="-342900">
              <a:lnSpc>
                <a:spcPts val="1500"/>
              </a:lnSpc>
              <a:spcAft>
                <a:spcPts val="600"/>
              </a:spcAft>
              <a:buSzPct val="100000"/>
              <a:buChar char="•"/>
            </a:pPr>
            <a:r>
              <a:rPr lang="en-US" sz="1150" dirty="0">
                <a:solidFill>
                  <a:srgbClr val="97A3BF"/>
                </a:solidFill>
                <a:latin typeface="Calibri" pitchFamily="34" charset="0"/>
                <a:ea typeface="Calibri" pitchFamily="34" charset="-122"/>
                <a:cs typeface="Calibri" pitchFamily="34" charset="-120"/>
              </a:rPr>
              <a:t>Live: 1 server, 3 tools, namespaced mcp:server:tool</a:t>
            </a:r>
            <a:endParaRPr lang="en-US" sz="1150" dirty="0"/>
          </a:p>
        </p:txBody>
      </p:sp>
      <p:sp>
        <p:nvSpPr>
          <p:cNvPr id="16" name="Shape 14"/>
          <p:cNvSpPr/>
          <p:nvPr/>
        </p:nvSpPr>
        <p:spPr>
          <a:xfrm>
            <a:off x="6172200" y="3858768"/>
            <a:ext cx="5440680" cy="2194560"/>
          </a:xfrm>
          <a:prstGeom prst="roundRect">
            <a:avLst>
              <a:gd name="adj" fmla="val 3333"/>
            </a:avLst>
          </a:prstGeom>
          <a:solidFill>
            <a:srgbClr val="161E33"/>
          </a:solidFill>
          <a:ln w="12700">
            <a:solidFill>
              <a:srgbClr val="1E2740"/>
            </a:solidFill>
            <a:prstDash val="solid"/>
          </a:ln>
        </p:spPr>
        <p:txBody>
          <a:bodyPr/>
          <a:lstStyle/>
          <a:p>
            <a:endParaRPr lang="en-PK"/>
          </a:p>
        </p:txBody>
      </p:sp>
      <p:sp>
        <p:nvSpPr>
          <p:cNvPr id="17" name="Shape 15"/>
          <p:cNvSpPr/>
          <p:nvPr/>
        </p:nvSpPr>
        <p:spPr>
          <a:xfrm>
            <a:off x="6428232" y="4096512"/>
            <a:ext cx="146304" cy="146304"/>
          </a:xfrm>
          <a:prstGeom prst="ellipse">
            <a:avLst/>
          </a:prstGeom>
          <a:solidFill>
            <a:srgbClr val="34D399"/>
          </a:solidFill>
          <a:ln w="12700">
            <a:solidFill>
              <a:srgbClr val="34D399"/>
            </a:solidFill>
            <a:prstDash val="solid"/>
          </a:ln>
        </p:spPr>
        <p:txBody>
          <a:bodyPr/>
          <a:lstStyle/>
          <a:p>
            <a:endParaRPr lang="en-PK"/>
          </a:p>
        </p:txBody>
      </p:sp>
      <p:sp>
        <p:nvSpPr>
          <p:cNvPr id="18" name="Text 16"/>
          <p:cNvSpPr/>
          <p:nvPr/>
        </p:nvSpPr>
        <p:spPr>
          <a:xfrm>
            <a:off x="6684264" y="4005072"/>
            <a:ext cx="4663440" cy="310896"/>
          </a:xfrm>
          <a:prstGeom prst="rect">
            <a:avLst/>
          </a:prstGeom>
          <a:noFill/>
          <a:ln/>
        </p:spPr>
        <p:txBody>
          <a:bodyPr wrap="square" lIns="0" tIns="0" rIns="0" bIns="0" rtlCol="0" anchor="ctr"/>
          <a:lstStyle/>
          <a:p>
            <a:pPr marL="0" indent="0">
              <a:buNone/>
            </a:pPr>
            <a:r>
              <a:rPr lang="en-US" sz="1600" b="1" dirty="0">
                <a:solidFill>
                  <a:srgbClr val="EAEEF9"/>
                </a:solidFill>
                <a:latin typeface="Calibri" pitchFamily="34" charset="0"/>
                <a:ea typeface="Calibri" pitchFamily="34" charset="-122"/>
                <a:cs typeface="Calibri" pitchFamily="34" charset="-120"/>
              </a:rPr>
              <a:t>Projects &amp; your documents</a:t>
            </a:r>
            <a:endParaRPr lang="en-US" sz="1600" dirty="0"/>
          </a:p>
        </p:txBody>
      </p:sp>
      <p:sp>
        <p:nvSpPr>
          <p:cNvPr id="19" name="Text 17"/>
          <p:cNvSpPr/>
          <p:nvPr/>
        </p:nvSpPr>
        <p:spPr>
          <a:xfrm>
            <a:off x="6446520" y="4425696"/>
            <a:ext cx="4937760" cy="146304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97A3BF"/>
                </a:solidFill>
                <a:latin typeface="Calibri" pitchFamily="34" charset="0"/>
                <a:ea typeface="Calibri" pitchFamily="34" charset="-122"/>
                <a:cs typeface="Calibri" pitchFamily="34" charset="-120"/>
              </a:rPr>
              <a:t>Upload PDF · DOCX · CSV · images (OCR) · audio (Whisper)</a:t>
            </a:r>
            <a:endParaRPr lang="en-US" sz="1150" dirty="0"/>
          </a:p>
          <a:p>
            <a:pPr marL="342900" indent="-342900">
              <a:lnSpc>
                <a:spcPts val="1500"/>
              </a:lnSpc>
              <a:spcAft>
                <a:spcPts val="600"/>
              </a:spcAft>
              <a:buSzPct val="100000"/>
              <a:buChar char="•"/>
            </a:pPr>
            <a:r>
              <a:rPr lang="en-US" sz="1150" dirty="0">
                <a:solidFill>
                  <a:srgbClr val="97A3BF"/>
                </a:solidFill>
                <a:latin typeface="Calibri" pitchFamily="34" charset="0"/>
                <a:ea typeface="Calibri" pitchFamily="34" charset="-122"/>
                <a:cs typeface="Calibri" pitchFamily="34" charset="-120"/>
              </a:rPr>
              <a:t>Per-project vectors, isolated by project_id</a:t>
            </a:r>
            <a:endParaRPr lang="en-US" sz="1150" dirty="0"/>
          </a:p>
          <a:p>
            <a:pPr marL="342900" indent="-342900">
              <a:lnSpc>
                <a:spcPts val="1500"/>
              </a:lnSpc>
              <a:spcAft>
                <a:spcPts val="600"/>
              </a:spcAft>
              <a:buSzPct val="100000"/>
              <a:buChar char="•"/>
            </a:pPr>
            <a:r>
              <a:rPr lang="en-US" sz="1150" dirty="0">
                <a:solidFill>
                  <a:srgbClr val="97A3BF"/>
                </a:solidFill>
                <a:latin typeface="Calibri" pitchFamily="34" charset="0"/>
                <a:ea typeface="Calibri" pitchFamily="34" charset="-122"/>
                <a:cs typeface="Calibri" pitchFamily="34" charset="-120"/>
              </a:rPr>
              <a:t>Clickable citations open the exact uploaded file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lIns="0" tIns="0" rIns="0" bIns="0" rtlCol="0" anchor="ctr"/>
          <a:lstStyle/>
          <a:p>
            <a:pPr marL="0" indent="0">
              <a:buNone/>
            </a:pPr>
            <a:r>
              <a:rPr lang="en-US" sz="3400" b="1" dirty="0">
                <a:solidFill>
                  <a:srgbClr val="EAEEF9"/>
                </a:solidFill>
                <a:latin typeface="Calibri" pitchFamily="34" charset="0"/>
                <a:ea typeface="Calibri" pitchFamily="34" charset="-122"/>
                <a:cs typeface="Calibri" pitchFamily="34" charset="-120"/>
              </a:rPr>
              <a:t>Database design &amp; observability</a:t>
            </a:r>
            <a:endParaRPr lang="en-US" sz="3400" dirty="0"/>
          </a:p>
        </p:txBody>
      </p:sp>
      <p:sp>
        <p:nvSpPr>
          <p:cNvPr id="3" name="Text 1"/>
          <p:cNvSpPr/>
          <p:nvPr/>
        </p:nvSpPr>
        <p:spPr>
          <a:xfrm>
            <a:off x="548640" y="932688"/>
            <a:ext cx="11064240" cy="292608"/>
          </a:xfrm>
          <a:prstGeom prst="rect">
            <a:avLst/>
          </a:prstGeom>
          <a:noFill/>
          <a:ln/>
        </p:spPr>
        <p:txBody>
          <a:bodyPr wrap="square" lIns="0" tIns="0" rIns="0" bIns="0" rtlCol="0" anchor="ctr"/>
          <a:lstStyle/>
          <a:p>
            <a:pPr marL="0" indent="0">
              <a:buNone/>
            </a:pPr>
            <a:r>
              <a:rPr lang="en-US" sz="1350" dirty="0">
                <a:solidFill>
                  <a:srgbClr val="97A3BF"/>
                </a:solidFill>
                <a:latin typeface="Calibri" pitchFamily="34" charset="0"/>
                <a:ea typeface="Calibri" pitchFamily="34" charset="-122"/>
                <a:cs typeface="Calibri" pitchFamily="34" charset="-120"/>
              </a:rPr>
              <a:t>Every major step is logged — that requirement became the dashboard</a:t>
            </a:r>
            <a:endParaRPr lang="en-US" sz="1350" dirty="0"/>
          </a:p>
        </p:txBody>
      </p:sp>
      <p:sp>
        <p:nvSpPr>
          <p:cNvPr id="4" name="Shape 2"/>
          <p:cNvSpPr/>
          <p:nvPr/>
        </p:nvSpPr>
        <p:spPr>
          <a:xfrm>
            <a:off x="548640" y="1463040"/>
            <a:ext cx="4937760" cy="4617720"/>
          </a:xfrm>
          <a:prstGeom prst="roundRect">
            <a:avLst>
              <a:gd name="adj" fmla="val 1584"/>
            </a:avLst>
          </a:prstGeom>
          <a:solidFill>
            <a:srgbClr val="161E33"/>
          </a:solidFill>
          <a:ln w="12700">
            <a:solidFill>
              <a:srgbClr val="1E2740"/>
            </a:solidFill>
            <a:prstDash val="solid"/>
          </a:ln>
        </p:spPr>
        <p:txBody>
          <a:bodyPr/>
          <a:lstStyle/>
          <a:p>
            <a:endParaRPr lang="en-PK"/>
          </a:p>
        </p:txBody>
      </p:sp>
      <p:sp>
        <p:nvSpPr>
          <p:cNvPr id="5" name="Text 3"/>
          <p:cNvSpPr/>
          <p:nvPr/>
        </p:nvSpPr>
        <p:spPr>
          <a:xfrm>
            <a:off x="777240" y="1627632"/>
            <a:ext cx="4572000" cy="274320"/>
          </a:xfrm>
          <a:prstGeom prst="rect">
            <a:avLst/>
          </a:prstGeom>
          <a:noFill/>
          <a:ln/>
        </p:spPr>
        <p:txBody>
          <a:bodyPr wrap="square" lIns="0" tIns="0" rIns="0" bIns="0" rtlCol="0" anchor="ctr"/>
          <a:lstStyle/>
          <a:p>
            <a:pPr marL="0" indent="0">
              <a:buNone/>
            </a:pPr>
            <a:r>
              <a:rPr lang="en-US" sz="1450" b="1" dirty="0">
                <a:solidFill>
                  <a:srgbClr val="22D3EE"/>
                </a:solidFill>
                <a:latin typeface="Calibri" pitchFamily="34" charset="0"/>
                <a:ea typeface="Calibri" pitchFamily="34" charset="-122"/>
                <a:cs typeface="Calibri" pitchFamily="34" charset="-120"/>
              </a:rPr>
              <a:t>Schema (SQLAlchemy · Postgres / SQLite)</a:t>
            </a:r>
            <a:endParaRPr lang="en-US" sz="1450" dirty="0"/>
          </a:p>
        </p:txBody>
      </p:sp>
      <p:sp>
        <p:nvSpPr>
          <p:cNvPr id="6" name="Text 4"/>
          <p:cNvSpPr/>
          <p:nvPr/>
        </p:nvSpPr>
        <p:spPr>
          <a:xfrm>
            <a:off x="777240" y="2029968"/>
            <a:ext cx="2103120" cy="256032"/>
          </a:xfrm>
          <a:prstGeom prst="rect">
            <a:avLst/>
          </a:prstGeom>
          <a:noFill/>
          <a:ln/>
        </p:spPr>
        <p:txBody>
          <a:bodyPr wrap="square" lIns="0" tIns="0" rIns="0" bIns="0" rtlCol="0" anchor="ctr"/>
          <a:lstStyle/>
          <a:p>
            <a:pPr marL="0" indent="0">
              <a:buNone/>
            </a:pPr>
            <a:r>
              <a:rPr lang="en-US" sz="1200" b="1" dirty="0">
                <a:solidFill>
                  <a:srgbClr val="EAEEF9"/>
                </a:solidFill>
                <a:latin typeface="Calibri" pitchFamily="34" charset="0"/>
                <a:ea typeface="Calibri" pitchFamily="34" charset="-122"/>
                <a:cs typeface="Calibri" pitchFamily="34" charset="-120"/>
              </a:rPr>
              <a:t>users</a:t>
            </a:r>
            <a:endParaRPr lang="en-US" sz="1200" dirty="0"/>
          </a:p>
        </p:txBody>
      </p:sp>
      <p:sp>
        <p:nvSpPr>
          <p:cNvPr id="7" name="Text 5"/>
          <p:cNvSpPr/>
          <p:nvPr/>
        </p:nvSpPr>
        <p:spPr>
          <a:xfrm>
            <a:off x="2880360" y="2029968"/>
            <a:ext cx="2468880" cy="256032"/>
          </a:xfrm>
          <a:prstGeom prst="rect">
            <a:avLst/>
          </a:prstGeom>
          <a:noFill/>
          <a:ln/>
        </p:spPr>
        <p:txBody>
          <a:bodyPr wrap="square" lIns="0" tIns="0" rIns="0" bIns="0" rtlCol="0" anchor="ctr"/>
          <a:lstStyle/>
          <a:p>
            <a:pPr marL="0" indent="0">
              <a:buNone/>
            </a:pPr>
            <a:r>
              <a:rPr lang="en-US" sz="1100" dirty="0">
                <a:solidFill>
                  <a:srgbClr val="97A3BF"/>
                </a:solidFill>
                <a:latin typeface="Calibri" pitchFamily="34" charset="0"/>
                <a:ea typeface="Calibri" pitchFamily="34" charset="-122"/>
                <a:cs typeface="Calibri" pitchFamily="34" charset="-120"/>
              </a:rPr>
              <a:t>identity + learned profile</a:t>
            </a:r>
            <a:endParaRPr lang="en-US" sz="1100" dirty="0"/>
          </a:p>
        </p:txBody>
      </p:sp>
      <p:sp>
        <p:nvSpPr>
          <p:cNvPr id="8" name="Text 6"/>
          <p:cNvSpPr/>
          <p:nvPr/>
        </p:nvSpPr>
        <p:spPr>
          <a:xfrm>
            <a:off x="777240" y="2596896"/>
            <a:ext cx="2103120" cy="256032"/>
          </a:xfrm>
          <a:prstGeom prst="rect">
            <a:avLst/>
          </a:prstGeom>
          <a:noFill/>
          <a:ln/>
        </p:spPr>
        <p:txBody>
          <a:bodyPr wrap="square" lIns="0" tIns="0" rIns="0" bIns="0" rtlCol="0" anchor="ctr"/>
          <a:lstStyle/>
          <a:p>
            <a:pPr marL="0" indent="0">
              <a:buNone/>
            </a:pPr>
            <a:r>
              <a:rPr lang="en-US" sz="1200" b="1" dirty="0">
                <a:solidFill>
                  <a:srgbClr val="EAEEF9"/>
                </a:solidFill>
                <a:latin typeface="Calibri" pitchFamily="34" charset="0"/>
                <a:ea typeface="Calibri" pitchFamily="34" charset="-122"/>
                <a:cs typeface="Calibri" pitchFamily="34" charset="-120"/>
              </a:rPr>
              <a:t>auth_sessions</a:t>
            </a:r>
            <a:endParaRPr lang="en-US" sz="1200" dirty="0"/>
          </a:p>
        </p:txBody>
      </p:sp>
      <p:sp>
        <p:nvSpPr>
          <p:cNvPr id="9" name="Text 7"/>
          <p:cNvSpPr/>
          <p:nvPr/>
        </p:nvSpPr>
        <p:spPr>
          <a:xfrm>
            <a:off x="2880360" y="2596896"/>
            <a:ext cx="2468880" cy="256032"/>
          </a:xfrm>
          <a:prstGeom prst="rect">
            <a:avLst/>
          </a:prstGeom>
          <a:noFill/>
          <a:ln/>
        </p:spPr>
        <p:txBody>
          <a:bodyPr wrap="square" lIns="0" tIns="0" rIns="0" bIns="0" rtlCol="0" anchor="ctr"/>
          <a:lstStyle/>
          <a:p>
            <a:pPr marL="0" indent="0">
              <a:buNone/>
            </a:pPr>
            <a:r>
              <a:rPr lang="en-US" sz="1100" dirty="0">
                <a:solidFill>
                  <a:srgbClr val="97A3BF"/>
                </a:solidFill>
                <a:latin typeface="Calibri" pitchFamily="34" charset="0"/>
                <a:ea typeface="Calibri" pitchFamily="34" charset="-122"/>
                <a:cs typeface="Calibri" pitchFamily="34" charset="-120"/>
              </a:rPr>
              <a:t>revocable refresh tokens</a:t>
            </a:r>
            <a:endParaRPr lang="en-US" sz="1100" dirty="0"/>
          </a:p>
        </p:txBody>
      </p:sp>
      <p:sp>
        <p:nvSpPr>
          <p:cNvPr id="10" name="Text 8"/>
          <p:cNvSpPr/>
          <p:nvPr/>
        </p:nvSpPr>
        <p:spPr>
          <a:xfrm>
            <a:off x="777240" y="3163824"/>
            <a:ext cx="2103120" cy="256032"/>
          </a:xfrm>
          <a:prstGeom prst="rect">
            <a:avLst/>
          </a:prstGeom>
          <a:noFill/>
          <a:ln/>
        </p:spPr>
        <p:txBody>
          <a:bodyPr wrap="square" lIns="0" tIns="0" rIns="0" bIns="0" rtlCol="0" anchor="ctr"/>
          <a:lstStyle/>
          <a:p>
            <a:pPr marL="0" indent="0">
              <a:buNone/>
            </a:pPr>
            <a:r>
              <a:rPr lang="en-US" sz="1200" b="1" dirty="0">
                <a:solidFill>
                  <a:srgbClr val="EAEEF9"/>
                </a:solidFill>
                <a:latin typeface="Calibri" pitchFamily="34" charset="0"/>
                <a:ea typeface="Calibri" pitchFamily="34" charset="-122"/>
                <a:cs typeface="Calibri" pitchFamily="34" charset="-120"/>
              </a:rPr>
              <a:t>projects / project_files</a:t>
            </a:r>
            <a:endParaRPr lang="en-US" sz="1200" dirty="0"/>
          </a:p>
        </p:txBody>
      </p:sp>
      <p:sp>
        <p:nvSpPr>
          <p:cNvPr id="11" name="Text 9"/>
          <p:cNvSpPr/>
          <p:nvPr/>
        </p:nvSpPr>
        <p:spPr>
          <a:xfrm>
            <a:off x="2880360" y="3163824"/>
            <a:ext cx="2468880" cy="256032"/>
          </a:xfrm>
          <a:prstGeom prst="rect">
            <a:avLst/>
          </a:prstGeom>
          <a:noFill/>
          <a:ln/>
        </p:spPr>
        <p:txBody>
          <a:bodyPr wrap="square" lIns="0" tIns="0" rIns="0" bIns="0" rtlCol="0" anchor="ctr"/>
          <a:lstStyle/>
          <a:p>
            <a:pPr marL="0" indent="0">
              <a:buNone/>
            </a:pPr>
            <a:r>
              <a:rPr lang="en-US" sz="1100" dirty="0">
                <a:solidFill>
                  <a:srgbClr val="97A3BF"/>
                </a:solidFill>
                <a:latin typeface="Calibri" pitchFamily="34" charset="0"/>
                <a:ea typeface="Calibri" pitchFamily="34" charset="-122"/>
                <a:cs typeface="Calibri" pitchFamily="34" charset="-120"/>
              </a:rPr>
              <a:t>uploads + ingest status</a:t>
            </a:r>
            <a:endParaRPr lang="en-US" sz="1100" dirty="0"/>
          </a:p>
        </p:txBody>
      </p:sp>
      <p:sp>
        <p:nvSpPr>
          <p:cNvPr id="12" name="Text 10"/>
          <p:cNvSpPr/>
          <p:nvPr/>
        </p:nvSpPr>
        <p:spPr>
          <a:xfrm>
            <a:off x="777240" y="3730752"/>
            <a:ext cx="2103120" cy="256032"/>
          </a:xfrm>
          <a:prstGeom prst="rect">
            <a:avLst/>
          </a:prstGeom>
          <a:noFill/>
          <a:ln/>
        </p:spPr>
        <p:txBody>
          <a:bodyPr wrap="square" lIns="0" tIns="0" rIns="0" bIns="0" rtlCol="0" anchor="ctr"/>
          <a:lstStyle/>
          <a:p>
            <a:pPr marL="0" indent="0">
              <a:buNone/>
            </a:pPr>
            <a:r>
              <a:rPr lang="en-US" sz="1200" b="1" dirty="0">
                <a:solidFill>
                  <a:srgbClr val="EAEEF9"/>
                </a:solidFill>
                <a:latin typeface="Calibri" pitchFamily="34" charset="0"/>
                <a:ea typeface="Calibri" pitchFamily="34" charset="-122"/>
                <a:cs typeface="Calibri" pitchFamily="34" charset="-120"/>
              </a:rPr>
              <a:t>chats / messages</a:t>
            </a:r>
            <a:endParaRPr lang="en-US" sz="1200" dirty="0"/>
          </a:p>
        </p:txBody>
      </p:sp>
      <p:sp>
        <p:nvSpPr>
          <p:cNvPr id="13" name="Text 11"/>
          <p:cNvSpPr/>
          <p:nvPr/>
        </p:nvSpPr>
        <p:spPr>
          <a:xfrm>
            <a:off x="2880360" y="3730752"/>
            <a:ext cx="2468880" cy="256032"/>
          </a:xfrm>
          <a:prstGeom prst="rect">
            <a:avLst/>
          </a:prstGeom>
          <a:noFill/>
          <a:ln/>
        </p:spPr>
        <p:txBody>
          <a:bodyPr wrap="square" lIns="0" tIns="0" rIns="0" bIns="0" rtlCol="0" anchor="ctr"/>
          <a:lstStyle/>
          <a:p>
            <a:pPr marL="0" indent="0">
              <a:buNone/>
            </a:pPr>
            <a:r>
              <a:rPr lang="en-US" sz="1100" dirty="0">
                <a:solidFill>
                  <a:srgbClr val="97A3BF"/>
                </a:solidFill>
                <a:latin typeface="Calibri" pitchFamily="34" charset="0"/>
                <a:ea typeface="Calibri" pitchFamily="34" charset="-122"/>
                <a:cs typeface="Calibri" pitchFamily="34" charset="-120"/>
              </a:rPr>
              <a:t>per-user, project-scoped</a:t>
            </a:r>
            <a:endParaRPr lang="en-US" sz="1100" dirty="0"/>
          </a:p>
        </p:txBody>
      </p:sp>
      <p:sp>
        <p:nvSpPr>
          <p:cNvPr id="14" name="Text 12"/>
          <p:cNvSpPr/>
          <p:nvPr/>
        </p:nvSpPr>
        <p:spPr>
          <a:xfrm>
            <a:off x="777240" y="4297680"/>
            <a:ext cx="2103120" cy="256032"/>
          </a:xfrm>
          <a:prstGeom prst="rect">
            <a:avLst/>
          </a:prstGeom>
          <a:noFill/>
          <a:ln/>
        </p:spPr>
        <p:txBody>
          <a:bodyPr wrap="square" lIns="0" tIns="0" rIns="0" bIns="0" rtlCol="0" anchor="ctr"/>
          <a:lstStyle/>
          <a:p>
            <a:pPr marL="0" indent="0">
              <a:buNone/>
            </a:pPr>
            <a:r>
              <a:rPr lang="en-US" sz="1200" b="1" dirty="0">
                <a:solidFill>
                  <a:srgbClr val="EAEEF9"/>
                </a:solidFill>
                <a:latin typeface="Calibri" pitchFamily="34" charset="0"/>
                <a:ea typeface="Calibri" pitchFamily="34" charset="-122"/>
                <a:cs typeface="Calibri" pitchFamily="34" charset="-120"/>
              </a:rPr>
              <a:t>event_logs</a:t>
            </a:r>
            <a:endParaRPr lang="en-US" sz="1200" dirty="0"/>
          </a:p>
        </p:txBody>
      </p:sp>
      <p:sp>
        <p:nvSpPr>
          <p:cNvPr id="15" name="Text 13"/>
          <p:cNvSpPr/>
          <p:nvPr/>
        </p:nvSpPr>
        <p:spPr>
          <a:xfrm>
            <a:off x="2880360" y="4297680"/>
            <a:ext cx="2468880" cy="256032"/>
          </a:xfrm>
          <a:prstGeom prst="rect">
            <a:avLst/>
          </a:prstGeom>
          <a:noFill/>
          <a:ln/>
        </p:spPr>
        <p:txBody>
          <a:bodyPr wrap="square" lIns="0" tIns="0" rIns="0" bIns="0" rtlCol="0" anchor="ctr"/>
          <a:lstStyle/>
          <a:p>
            <a:pPr marL="0" indent="0">
              <a:buNone/>
            </a:pPr>
            <a:r>
              <a:rPr lang="en-US" sz="1100" dirty="0">
                <a:solidFill>
                  <a:srgbClr val="97A3BF"/>
                </a:solidFill>
                <a:latin typeface="Calibri" pitchFamily="34" charset="0"/>
                <a:ea typeface="Calibri" pitchFamily="34" charset="-122"/>
                <a:cs typeface="Calibri" pitchFamily="34" charset="-120"/>
              </a:rPr>
              <a:t>every step, correlation_id</a:t>
            </a:r>
            <a:endParaRPr lang="en-US" sz="1100" dirty="0"/>
          </a:p>
        </p:txBody>
      </p:sp>
      <p:sp>
        <p:nvSpPr>
          <p:cNvPr id="16" name="Text 14"/>
          <p:cNvSpPr/>
          <p:nvPr/>
        </p:nvSpPr>
        <p:spPr>
          <a:xfrm>
            <a:off x="777240" y="4956048"/>
            <a:ext cx="4572000" cy="914400"/>
          </a:xfrm>
          <a:prstGeom prst="rect">
            <a:avLst/>
          </a:prstGeom>
          <a:noFill/>
          <a:ln/>
        </p:spPr>
        <p:txBody>
          <a:bodyPr wrap="square" lIns="0" tIns="0" rIns="0" bIns="0" rtlCol="0" anchor="ctr"/>
          <a:lstStyle/>
          <a:p>
            <a:pPr marL="0" indent="0">
              <a:lnSpc>
                <a:spcPts val="1500"/>
              </a:lnSpc>
              <a:buNone/>
            </a:pPr>
            <a:r>
              <a:rPr lang="en-US" sz="1100" dirty="0">
                <a:solidFill>
                  <a:srgbClr val="97A3BF"/>
                </a:solidFill>
                <a:latin typeface="Calibri" pitchFamily="34" charset="0"/>
                <a:ea typeface="Calibri" pitchFamily="34" charset="-122"/>
                <a:cs typeface="Calibri" pitchFamily="34" charset="-120"/>
              </a:rPr>
              <a:t>Multi-tenant by design: every chat, project and vector is scoped to a user_id / project_id.</a:t>
            </a:r>
            <a:endParaRPr lang="en-US" sz="1100" dirty="0"/>
          </a:p>
          <a:p>
            <a:pPr marL="0" indent="0">
              <a:lnSpc>
                <a:spcPts val="1500"/>
              </a:lnSpc>
              <a:buNone/>
            </a:pPr>
            <a:r>
              <a:rPr lang="en-US" sz="1100" dirty="0">
                <a:solidFill>
                  <a:srgbClr val="97A3BF"/>
                </a:solidFill>
                <a:latin typeface="Calibri" pitchFamily="34" charset="0"/>
                <a:ea typeface="Calibri" pitchFamily="34" charset="-122"/>
                <a:cs typeface="Calibri" pitchFamily="34" charset="-120"/>
              </a:rPr>
              <a:t>Aggregation runs in Python over a recent window — so the same code works on SQLite and Postgres, no SQL-dialect drift.</a:t>
            </a:r>
            <a:endParaRPr lang="en-US" sz="1100" dirty="0"/>
          </a:p>
        </p:txBody>
      </p:sp>
      <p:sp>
        <p:nvSpPr>
          <p:cNvPr id="17" name="Shape 15"/>
          <p:cNvSpPr/>
          <p:nvPr/>
        </p:nvSpPr>
        <p:spPr>
          <a:xfrm>
            <a:off x="5715000" y="1463040"/>
            <a:ext cx="5897880" cy="4617720"/>
          </a:xfrm>
          <a:prstGeom prst="roundRect">
            <a:avLst>
              <a:gd name="adj" fmla="val 1584"/>
            </a:avLst>
          </a:prstGeom>
          <a:solidFill>
            <a:srgbClr val="161E33"/>
          </a:solidFill>
          <a:ln w="12700">
            <a:solidFill>
              <a:srgbClr val="1E2740"/>
            </a:solidFill>
            <a:prstDash val="solid"/>
          </a:ln>
        </p:spPr>
        <p:txBody>
          <a:bodyPr/>
          <a:lstStyle/>
          <a:p>
            <a:endParaRPr lang="en-PK"/>
          </a:p>
        </p:txBody>
      </p:sp>
      <p:sp>
        <p:nvSpPr>
          <p:cNvPr id="18" name="Text 16"/>
          <p:cNvSpPr/>
          <p:nvPr/>
        </p:nvSpPr>
        <p:spPr>
          <a:xfrm>
            <a:off x="5943600" y="1627632"/>
            <a:ext cx="5394960" cy="274320"/>
          </a:xfrm>
          <a:prstGeom prst="rect">
            <a:avLst/>
          </a:prstGeom>
          <a:noFill/>
          <a:ln/>
        </p:spPr>
        <p:txBody>
          <a:bodyPr wrap="square" lIns="0" tIns="0" rIns="0" bIns="0" rtlCol="0" anchor="ctr"/>
          <a:lstStyle/>
          <a:p>
            <a:pPr marL="0" indent="0">
              <a:buNone/>
            </a:pPr>
            <a:r>
              <a:rPr lang="en-US" sz="1450" b="1" dirty="0">
                <a:solidFill>
                  <a:srgbClr val="22D3EE"/>
                </a:solidFill>
                <a:latin typeface="Calibri" pitchFamily="34" charset="0"/>
                <a:ea typeface="Calibri" pitchFamily="34" charset="-122"/>
                <a:cs typeface="Calibri" pitchFamily="34" charset="-120"/>
              </a:rPr>
              <a:t>Live observability dashboard</a:t>
            </a:r>
            <a:endParaRPr lang="en-US" sz="1450" dirty="0"/>
          </a:p>
        </p:txBody>
      </p:sp>
      <p:sp>
        <p:nvSpPr>
          <p:cNvPr id="19" name="Text 17"/>
          <p:cNvSpPr/>
          <p:nvPr/>
        </p:nvSpPr>
        <p:spPr>
          <a:xfrm>
            <a:off x="5943600" y="1956816"/>
            <a:ext cx="5394960" cy="457200"/>
          </a:xfrm>
          <a:prstGeom prst="rect">
            <a:avLst/>
          </a:prstGeom>
          <a:noFill/>
          <a:ln/>
        </p:spPr>
        <p:txBody>
          <a:bodyPr wrap="square" lIns="0" tIns="0" rIns="0" bIns="0" rtlCol="0" anchor="ctr"/>
          <a:lstStyle/>
          <a:p>
            <a:pPr marL="0" indent="0">
              <a:lnSpc>
                <a:spcPts val="1500"/>
              </a:lnSpc>
              <a:buNone/>
            </a:pPr>
            <a:r>
              <a:rPr lang="en-US" sz="1150" dirty="0">
                <a:solidFill>
                  <a:srgbClr val="97A3BF"/>
                </a:solidFill>
                <a:latin typeface="Calibri" pitchFamily="34" charset="0"/>
                <a:ea typeface="Calibri" pitchFamily="34" charset="-122"/>
                <a:cs typeface="Calibri" pitchFamily="34" charset="-120"/>
              </a:rPr>
              <a:t>Correlation-ID traced: request → every node (with latency) → tool / MCP call → grounding verdict → errors → done.</a:t>
            </a:r>
            <a:endParaRPr lang="en-US" sz="1150" dirty="0"/>
          </a:p>
        </p:txBody>
      </p:sp>
      <p:graphicFrame>
        <p:nvGraphicFramePr>
          <p:cNvPr id="20" name="Chart 0"/>
          <p:cNvGraphicFramePr/>
          <p:nvPr/>
        </p:nvGraphicFramePr>
        <p:xfrm>
          <a:off x="5852160" y="2468880"/>
          <a:ext cx="5623560" cy="3429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lIns="0" tIns="0" rIns="0" bIns="0" rtlCol="0" anchor="ctr"/>
          <a:lstStyle/>
          <a:p>
            <a:pPr marL="0" indent="0">
              <a:buNone/>
            </a:pPr>
            <a:r>
              <a:rPr lang="en-US" sz="3400" b="1" dirty="0">
                <a:solidFill>
                  <a:srgbClr val="EAEEF9"/>
                </a:solidFill>
                <a:latin typeface="Calibri" pitchFamily="34" charset="0"/>
                <a:ea typeface="Calibri" pitchFamily="34" charset="-122"/>
                <a:cs typeface="Calibri" pitchFamily="34" charset="-120"/>
              </a:rPr>
              <a:t>Challenges — and what they taught me</a:t>
            </a:r>
            <a:endParaRPr lang="en-US" sz="3400" dirty="0"/>
          </a:p>
        </p:txBody>
      </p:sp>
      <p:sp>
        <p:nvSpPr>
          <p:cNvPr id="3" name="Text 1"/>
          <p:cNvSpPr/>
          <p:nvPr/>
        </p:nvSpPr>
        <p:spPr>
          <a:xfrm>
            <a:off x="548640" y="932688"/>
            <a:ext cx="11064240" cy="292608"/>
          </a:xfrm>
          <a:prstGeom prst="rect">
            <a:avLst/>
          </a:prstGeom>
          <a:noFill/>
          <a:ln/>
        </p:spPr>
        <p:txBody>
          <a:bodyPr wrap="square" lIns="0" tIns="0" rIns="0" bIns="0" rtlCol="0" anchor="ctr"/>
          <a:lstStyle/>
          <a:p>
            <a:pPr marL="0" indent="0">
              <a:buNone/>
            </a:pPr>
            <a:r>
              <a:rPr lang="en-US" sz="1350" dirty="0">
                <a:solidFill>
                  <a:srgbClr val="97A3BF"/>
                </a:solidFill>
                <a:latin typeface="Calibri" pitchFamily="34" charset="0"/>
                <a:ea typeface="Calibri" pitchFamily="34" charset="-122"/>
                <a:cs typeface="Calibri" pitchFamily="34" charset="-120"/>
              </a:rPr>
              <a:t>The bugs that don't appear in tutorials</a:t>
            </a:r>
            <a:endParaRPr lang="en-US" sz="1350" dirty="0"/>
          </a:p>
        </p:txBody>
      </p:sp>
      <p:sp>
        <p:nvSpPr>
          <p:cNvPr id="4" name="Shape 2"/>
          <p:cNvSpPr/>
          <p:nvPr/>
        </p:nvSpPr>
        <p:spPr>
          <a:xfrm>
            <a:off x="548640" y="1481328"/>
            <a:ext cx="6858000" cy="960120"/>
          </a:xfrm>
          <a:prstGeom prst="roundRect">
            <a:avLst>
              <a:gd name="adj" fmla="val 7619"/>
            </a:avLst>
          </a:prstGeom>
          <a:solidFill>
            <a:srgbClr val="161E33"/>
          </a:solidFill>
          <a:ln w="12700">
            <a:solidFill>
              <a:srgbClr val="1E2740"/>
            </a:solidFill>
            <a:prstDash val="solid"/>
          </a:ln>
        </p:spPr>
        <p:txBody>
          <a:bodyPr/>
          <a:lstStyle/>
          <a:p>
            <a:endParaRPr lang="en-PK"/>
          </a:p>
        </p:txBody>
      </p:sp>
      <p:sp>
        <p:nvSpPr>
          <p:cNvPr id="5" name="Shape 3"/>
          <p:cNvSpPr/>
          <p:nvPr/>
        </p:nvSpPr>
        <p:spPr>
          <a:xfrm>
            <a:off x="777240" y="1609344"/>
            <a:ext cx="146304" cy="146304"/>
          </a:xfrm>
          <a:prstGeom prst="ellipse">
            <a:avLst/>
          </a:prstGeom>
          <a:solidFill>
            <a:srgbClr val="FBBF24"/>
          </a:solidFill>
          <a:ln w="12700">
            <a:solidFill>
              <a:srgbClr val="FBBF24"/>
            </a:solidFill>
            <a:prstDash val="solid"/>
          </a:ln>
        </p:spPr>
        <p:txBody>
          <a:bodyPr/>
          <a:lstStyle/>
          <a:p>
            <a:endParaRPr lang="en-PK"/>
          </a:p>
        </p:txBody>
      </p:sp>
      <p:sp>
        <p:nvSpPr>
          <p:cNvPr id="6" name="Text 4"/>
          <p:cNvSpPr/>
          <p:nvPr/>
        </p:nvSpPr>
        <p:spPr>
          <a:xfrm>
            <a:off x="1024128" y="1536192"/>
            <a:ext cx="6217920" cy="256032"/>
          </a:xfrm>
          <a:prstGeom prst="rect">
            <a:avLst/>
          </a:prstGeom>
          <a:noFill/>
          <a:ln/>
        </p:spPr>
        <p:txBody>
          <a:bodyPr wrap="square" lIns="0" tIns="0" rIns="0" bIns="0" rtlCol="0" anchor="ctr"/>
          <a:lstStyle/>
          <a:p>
            <a:pPr marL="0" indent="0">
              <a:buNone/>
            </a:pPr>
            <a:r>
              <a:rPr lang="en-US" sz="1300" b="1" dirty="0">
                <a:solidFill>
                  <a:srgbClr val="EAEEF9"/>
                </a:solidFill>
                <a:latin typeface="Calibri" pitchFamily="34" charset="0"/>
                <a:ea typeface="Calibri" pitchFamily="34" charset="-122"/>
                <a:cs typeface="Calibri" pitchFamily="34" charset="-120"/>
              </a:rPr>
              <a:t>8 GB laptop died on ingest</a:t>
            </a:r>
            <a:endParaRPr lang="en-US" sz="1300" dirty="0"/>
          </a:p>
        </p:txBody>
      </p:sp>
      <p:sp>
        <p:nvSpPr>
          <p:cNvPr id="7" name="Text 5"/>
          <p:cNvSpPr/>
          <p:nvPr/>
        </p:nvSpPr>
        <p:spPr>
          <a:xfrm>
            <a:off x="1024128" y="1801368"/>
            <a:ext cx="6217920" cy="566928"/>
          </a:xfrm>
          <a:prstGeom prst="rect">
            <a:avLst/>
          </a:prstGeom>
          <a:noFill/>
          <a:ln/>
        </p:spPr>
        <p:txBody>
          <a:bodyPr wrap="square" lIns="0" tIns="0" rIns="0" bIns="0" rtlCol="0" anchor="ctr"/>
          <a:lstStyle/>
          <a:p>
            <a:pPr marL="0" indent="0">
              <a:lnSpc>
                <a:spcPts val="1300"/>
              </a:lnSpc>
              <a:buNone/>
            </a:pPr>
            <a:r>
              <a:rPr lang="en-US" sz="1050" dirty="0">
                <a:solidFill>
                  <a:srgbClr val="97A3BF"/>
                </a:solidFill>
                <a:latin typeface="Calibri" pitchFamily="34" charset="0"/>
                <a:ea typeface="Calibri" pitchFamily="34" charset="-122"/>
                <a:cs typeface="Calibri" pitchFamily="34" charset="-120"/>
              </a:rPr>
              <a:t>138k chunks + a 138k-vector index blew RAM into 8 GB of swap. Capped chunks/doc (evenly strided) + Apple-Silicon MPS → 40k chunks, indexes in minutes.</a:t>
            </a:r>
            <a:endParaRPr lang="en-US" sz="1050" dirty="0"/>
          </a:p>
        </p:txBody>
      </p:sp>
      <p:sp>
        <p:nvSpPr>
          <p:cNvPr id="8" name="Shape 6"/>
          <p:cNvSpPr/>
          <p:nvPr/>
        </p:nvSpPr>
        <p:spPr>
          <a:xfrm>
            <a:off x="548640" y="2578608"/>
            <a:ext cx="6858000" cy="960120"/>
          </a:xfrm>
          <a:prstGeom prst="roundRect">
            <a:avLst>
              <a:gd name="adj" fmla="val 7619"/>
            </a:avLst>
          </a:prstGeom>
          <a:solidFill>
            <a:srgbClr val="161E33"/>
          </a:solidFill>
          <a:ln w="12700">
            <a:solidFill>
              <a:srgbClr val="1E2740"/>
            </a:solidFill>
            <a:prstDash val="solid"/>
          </a:ln>
        </p:spPr>
        <p:txBody>
          <a:bodyPr/>
          <a:lstStyle/>
          <a:p>
            <a:endParaRPr lang="en-PK"/>
          </a:p>
        </p:txBody>
      </p:sp>
      <p:sp>
        <p:nvSpPr>
          <p:cNvPr id="9" name="Shape 7"/>
          <p:cNvSpPr/>
          <p:nvPr/>
        </p:nvSpPr>
        <p:spPr>
          <a:xfrm>
            <a:off x="777240" y="2706624"/>
            <a:ext cx="146304" cy="146304"/>
          </a:xfrm>
          <a:prstGeom prst="ellipse">
            <a:avLst/>
          </a:prstGeom>
          <a:solidFill>
            <a:srgbClr val="22D3EE"/>
          </a:solidFill>
          <a:ln w="12700">
            <a:solidFill>
              <a:srgbClr val="22D3EE"/>
            </a:solidFill>
            <a:prstDash val="solid"/>
          </a:ln>
        </p:spPr>
        <p:txBody>
          <a:bodyPr/>
          <a:lstStyle/>
          <a:p>
            <a:endParaRPr lang="en-PK"/>
          </a:p>
        </p:txBody>
      </p:sp>
      <p:sp>
        <p:nvSpPr>
          <p:cNvPr id="10" name="Text 8"/>
          <p:cNvSpPr/>
          <p:nvPr/>
        </p:nvSpPr>
        <p:spPr>
          <a:xfrm>
            <a:off x="1024128" y="2633472"/>
            <a:ext cx="6217920" cy="256032"/>
          </a:xfrm>
          <a:prstGeom prst="rect">
            <a:avLst/>
          </a:prstGeom>
          <a:noFill/>
          <a:ln/>
        </p:spPr>
        <p:txBody>
          <a:bodyPr wrap="square" lIns="0" tIns="0" rIns="0" bIns="0" rtlCol="0" anchor="ctr"/>
          <a:lstStyle/>
          <a:p>
            <a:pPr marL="0" indent="0">
              <a:buNone/>
            </a:pPr>
            <a:r>
              <a:rPr lang="en-US" sz="1300" b="1" dirty="0">
                <a:solidFill>
                  <a:srgbClr val="EAEEF9"/>
                </a:solidFill>
                <a:latin typeface="Calibri" pitchFamily="34" charset="0"/>
                <a:ea typeface="Calibri" pitchFamily="34" charset="-122"/>
                <a:cs typeface="Calibri" pitchFamily="34" charset="-120"/>
              </a:rPr>
              <a:t>The live UI got zero events</a:t>
            </a:r>
            <a:endParaRPr lang="en-US" sz="1300" dirty="0"/>
          </a:p>
        </p:txBody>
      </p:sp>
      <p:sp>
        <p:nvSpPr>
          <p:cNvPr id="11" name="Text 9"/>
          <p:cNvSpPr/>
          <p:nvPr/>
        </p:nvSpPr>
        <p:spPr>
          <a:xfrm>
            <a:off x="1024128" y="2898648"/>
            <a:ext cx="6217920" cy="566928"/>
          </a:xfrm>
          <a:prstGeom prst="rect">
            <a:avLst/>
          </a:prstGeom>
          <a:noFill/>
          <a:ln/>
        </p:spPr>
        <p:txBody>
          <a:bodyPr wrap="square" lIns="0" tIns="0" rIns="0" bIns="0" rtlCol="0" anchor="ctr"/>
          <a:lstStyle/>
          <a:p>
            <a:pPr marL="0" indent="0">
              <a:lnSpc>
                <a:spcPts val="1300"/>
              </a:lnSpc>
              <a:buNone/>
            </a:pPr>
            <a:r>
              <a:rPr lang="en-US" sz="1050" dirty="0">
                <a:solidFill>
                  <a:srgbClr val="97A3BF"/>
                </a:solidFill>
                <a:latin typeface="Calibri" pitchFamily="34" charset="0"/>
                <a:ea typeface="Calibri" pitchFamily="34" charset="-122"/>
                <a:cs typeface="Calibri" pitchFamily="34" charset="-120"/>
              </a:rPr>
              <a:t>SSE frames are delimited with CRLF; my parser split on \n\n, so nothing ever parsed. One-line fix restored the whole stream.</a:t>
            </a:r>
            <a:endParaRPr lang="en-US" sz="1050" dirty="0"/>
          </a:p>
        </p:txBody>
      </p:sp>
      <p:sp>
        <p:nvSpPr>
          <p:cNvPr id="12" name="Shape 10"/>
          <p:cNvSpPr/>
          <p:nvPr/>
        </p:nvSpPr>
        <p:spPr>
          <a:xfrm>
            <a:off x="548640" y="3675888"/>
            <a:ext cx="6858000" cy="960120"/>
          </a:xfrm>
          <a:prstGeom prst="roundRect">
            <a:avLst>
              <a:gd name="adj" fmla="val 7619"/>
            </a:avLst>
          </a:prstGeom>
          <a:solidFill>
            <a:srgbClr val="161E33"/>
          </a:solidFill>
          <a:ln w="12700">
            <a:solidFill>
              <a:srgbClr val="1E2740"/>
            </a:solidFill>
            <a:prstDash val="solid"/>
          </a:ln>
        </p:spPr>
        <p:txBody>
          <a:bodyPr/>
          <a:lstStyle/>
          <a:p>
            <a:endParaRPr lang="en-PK"/>
          </a:p>
        </p:txBody>
      </p:sp>
      <p:sp>
        <p:nvSpPr>
          <p:cNvPr id="13" name="Shape 11"/>
          <p:cNvSpPr/>
          <p:nvPr/>
        </p:nvSpPr>
        <p:spPr>
          <a:xfrm>
            <a:off x="777240" y="3803904"/>
            <a:ext cx="146304" cy="146304"/>
          </a:xfrm>
          <a:prstGeom prst="ellipse">
            <a:avLst/>
          </a:prstGeom>
          <a:solidFill>
            <a:srgbClr val="E879F9"/>
          </a:solidFill>
          <a:ln w="12700">
            <a:solidFill>
              <a:srgbClr val="E879F9"/>
            </a:solidFill>
            <a:prstDash val="solid"/>
          </a:ln>
        </p:spPr>
        <p:txBody>
          <a:bodyPr/>
          <a:lstStyle/>
          <a:p>
            <a:endParaRPr lang="en-PK"/>
          </a:p>
        </p:txBody>
      </p:sp>
      <p:sp>
        <p:nvSpPr>
          <p:cNvPr id="14" name="Text 12"/>
          <p:cNvSpPr/>
          <p:nvPr/>
        </p:nvSpPr>
        <p:spPr>
          <a:xfrm>
            <a:off x="1024128" y="3730752"/>
            <a:ext cx="6217920" cy="256032"/>
          </a:xfrm>
          <a:prstGeom prst="rect">
            <a:avLst/>
          </a:prstGeom>
          <a:noFill/>
          <a:ln/>
        </p:spPr>
        <p:txBody>
          <a:bodyPr wrap="square" lIns="0" tIns="0" rIns="0" bIns="0" rtlCol="0" anchor="ctr"/>
          <a:lstStyle/>
          <a:p>
            <a:pPr marL="0" indent="0">
              <a:buNone/>
            </a:pPr>
            <a:r>
              <a:rPr lang="en-US" sz="1300" b="1" dirty="0">
                <a:solidFill>
                  <a:srgbClr val="EAEEF9"/>
                </a:solidFill>
                <a:latin typeface="Calibri" pitchFamily="34" charset="0"/>
                <a:ea typeface="Calibri" pitchFamily="34" charset="-122"/>
                <a:cs typeface="Calibri" pitchFamily="34" charset="-120"/>
              </a:rPr>
              <a:t>SEC tables silently dropped</a:t>
            </a:r>
            <a:endParaRPr lang="en-US" sz="1300" dirty="0"/>
          </a:p>
        </p:txBody>
      </p:sp>
      <p:sp>
        <p:nvSpPr>
          <p:cNvPr id="15" name="Text 13"/>
          <p:cNvSpPr/>
          <p:nvPr/>
        </p:nvSpPr>
        <p:spPr>
          <a:xfrm>
            <a:off x="1024128" y="3995928"/>
            <a:ext cx="6217920" cy="566928"/>
          </a:xfrm>
          <a:prstGeom prst="rect">
            <a:avLst/>
          </a:prstGeom>
          <a:noFill/>
          <a:ln/>
        </p:spPr>
        <p:txBody>
          <a:bodyPr wrap="square" lIns="0" tIns="0" rIns="0" bIns="0" rtlCol="0" anchor="ctr"/>
          <a:lstStyle/>
          <a:p>
            <a:pPr marL="0" indent="0">
              <a:lnSpc>
                <a:spcPts val="1300"/>
              </a:lnSpc>
              <a:buNone/>
            </a:pPr>
            <a:r>
              <a:rPr lang="en-US" sz="1050" dirty="0">
                <a:solidFill>
                  <a:srgbClr val="97A3BF"/>
                </a:solidFill>
                <a:latin typeface="Calibri" pitchFamily="34" charset="0"/>
                <a:ea typeface="Calibri" pitchFamily="34" charset="-122"/>
                <a:cs typeface="Calibri" pitchFamily="34" charset="-120"/>
              </a:rPr>
              <a:t>Filings are XHTML — a whole-document table parse failed. Parsing each &lt;table&gt; with lxml + de-spanning recovered ~93 tables per filing.</a:t>
            </a:r>
            <a:endParaRPr lang="en-US" sz="1050" dirty="0"/>
          </a:p>
        </p:txBody>
      </p:sp>
      <p:sp>
        <p:nvSpPr>
          <p:cNvPr id="16" name="Shape 14"/>
          <p:cNvSpPr/>
          <p:nvPr/>
        </p:nvSpPr>
        <p:spPr>
          <a:xfrm>
            <a:off x="548640" y="4773168"/>
            <a:ext cx="6858000" cy="960120"/>
          </a:xfrm>
          <a:prstGeom prst="roundRect">
            <a:avLst>
              <a:gd name="adj" fmla="val 7619"/>
            </a:avLst>
          </a:prstGeom>
          <a:solidFill>
            <a:srgbClr val="161E33"/>
          </a:solidFill>
          <a:ln w="12700">
            <a:solidFill>
              <a:srgbClr val="1E2740"/>
            </a:solidFill>
            <a:prstDash val="solid"/>
          </a:ln>
        </p:spPr>
        <p:txBody>
          <a:bodyPr/>
          <a:lstStyle/>
          <a:p>
            <a:endParaRPr lang="en-PK"/>
          </a:p>
        </p:txBody>
      </p:sp>
      <p:sp>
        <p:nvSpPr>
          <p:cNvPr id="17" name="Shape 15"/>
          <p:cNvSpPr/>
          <p:nvPr/>
        </p:nvSpPr>
        <p:spPr>
          <a:xfrm>
            <a:off x="777240" y="4901184"/>
            <a:ext cx="146304" cy="146304"/>
          </a:xfrm>
          <a:prstGeom prst="ellipse">
            <a:avLst/>
          </a:prstGeom>
          <a:solidFill>
            <a:srgbClr val="34D399"/>
          </a:solidFill>
          <a:ln w="12700">
            <a:solidFill>
              <a:srgbClr val="34D399"/>
            </a:solidFill>
            <a:prstDash val="solid"/>
          </a:ln>
        </p:spPr>
        <p:txBody>
          <a:bodyPr/>
          <a:lstStyle/>
          <a:p>
            <a:endParaRPr lang="en-PK"/>
          </a:p>
        </p:txBody>
      </p:sp>
      <p:sp>
        <p:nvSpPr>
          <p:cNvPr id="18" name="Text 16"/>
          <p:cNvSpPr/>
          <p:nvPr/>
        </p:nvSpPr>
        <p:spPr>
          <a:xfrm>
            <a:off x="1024128" y="4828032"/>
            <a:ext cx="6217920" cy="256032"/>
          </a:xfrm>
          <a:prstGeom prst="rect">
            <a:avLst/>
          </a:prstGeom>
          <a:noFill/>
          <a:ln/>
        </p:spPr>
        <p:txBody>
          <a:bodyPr wrap="square" lIns="0" tIns="0" rIns="0" bIns="0" rtlCol="0" anchor="ctr"/>
          <a:lstStyle/>
          <a:p>
            <a:pPr marL="0" indent="0">
              <a:buNone/>
            </a:pPr>
            <a:r>
              <a:rPr lang="en-US" sz="1300" b="1" dirty="0">
                <a:solidFill>
                  <a:srgbClr val="EAEEF9"/>
                </a:solidFill>
                <a:latin typeface="Calibri" pitchFamily="34" charset="0"/>
                <a:ea typeface="Calibri" pitchFamily="34" charset="-122"/>
                <a:cs typeface="Calibri" pitchFamily="34" charset="-120"/>
              </a:rPr>
              <a:t>MCP tool got the wrong answer</a:t>
            </a:r>
            <a:endParaRPr lang="en-US" sz="1300" dirty="0"/>
          </a:p>
        </p:txBody>
      </p:sp>
      <p:sp>
        <p:nvSpPr>
          <p:cNvPr id="19" name="Text 17"/>
          <p:cNvSpPr/>
          <p:nvPr/>
        </p:nvSpPr>
        <p:spPr>
          <a:xfrm>
            <a:off x="1024128" y="5093208"/>
            <a:ext cx="6217920" cy="566928"/>
          </a:xfrm>
          <a:prstGeom prst="rect">
            <a:avLst/>
          </a:prstGeom>
          <a:noFill/>
          <a:ln/>
        </p:spPr>
        <p:txBody>
          <a:bodyPr wrap="square" lIns="0" tIns="0" rIns="0" bIns="0" rtlCol="0" anchor="ctr"/>
          <a:lstStyle/>
          <a:p>
            <a:pPr marL="0" indent="0">
              <a:lnSpc>
                <a:spcPts val="1300"/>
              </a:lnSpc>
              <a:buNone/>
            </a:pPr>
            <a:r>
              <a:rPr lang="en-US" sz="1050" dirty="0">
                <a:solidFill>
                  <a:srgbClr val="97A3BF"/>
                </a:solidFill>
                <a:latin typeface="Calibri" pitchFamily="34" charset="0"/>
                <a:ea typeface="Calibri" pitchFamily="34" charset="-122"/>
                <a:cs typeface="Calibri" pitchFamily="34" charset="-120"/>
              </a:rPr>
              <a:t>The model passed rate=0.07 instead of 7. I was truncating tool descriptions to one line. Lesson: tool accuracy = schema text quality.</a:t>
            </a:r>
            <a:endParaRPr lang="en-US" sz="1050" dirty="0"/>
          </a:p>
        </p:txBody>
      </p:sp>
      <p:graphicFrame>
        <p:nvGraphicFramePr>
          <p:cNvPr id="20" name="Chart 0"/>
          <p:cNvGraphicFramePr/>
          <p:nvPr/>
        </p:nvGraphicFramePr>
        <p:xfrm>
          <a:off x="7635240" y="1481328"/>
          <a:ext cx="397764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21" name="Shape 18"/>
          <p:cNvSpPr/>
          <p:nvPr/>
        </p:nvSpPr>
        <p:spPr>
          <a:xfrm>
            <a:off x="7635240" y="3931920"/>
            <a:ext cx="3977640" cy="2167128"/>
          </a:xfrm>
          <a:prstGeom prst="roundRect">
            <a:avLst>
              <a:gd name="adj" fmla="val 3376"/>
            </a:avLst>
          </a:prstGeom>
          <a:solidFill>
            <a:srgbClr val="1E2740"/>
          </a:solidFill>
          <a:ln w="12700">
            <a:solidFill>
              <a:srgbClr val="1E2740"/>
            </a:solidFill>
            <a:prstDash val="solid"/>
          </a:ln>
        </p:spPr>
        <p:txBody>
          <a:bodyPr/>
          <a:lstStyle/>
          <a:p>
            <a:endParaRPr lang="en-PK"/>
          </a:p>
        </p:txBody>
      </p:sp>
      <p:sp>
        <p:nvSpPr>
          <p:cNvPr id="22" name="Text 19"/>
          <p:cNvSpPr/>
          <p:nvPr/>
        </p:nvSpPr>
        <p:spPr>
          <a:xfrm>
            <a:off x="7863840" y="4078224"/>
            <a:ext cx="3566160" cy="274320"/>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Know your real limit</a:t>
            </a:r>
            <a:endParaRPr lang="en-US" sz="1400" dirty="0"/>
          </a:p>
        </p:txBody>
      </p:sp>
      <p:sp>
        <p:nvSpPr>
          <p:cNvPr id="23" name="Text 20"/>
          <p:cNvSpPr/>
          <p:nvPr/>
        </p:nvSpPr>
        <p:spPr>
          <a:xfrm>
            <a:off x="7863840" y="4407408"/>
            <a:ext cx="3566160" cy="1600200"/>
          </a:xfrm>
          <a:prstGeom prst="rect">
            <a:avLst/>
          </a:prstGeom>
          <a:noFill/>
          <a:ln/>
        </p:spPr>
        <p:txBody>
          <a:bodyPr wrap="square" lIns="0" tIns="0" rIns="0" bIns="0" rtlCol="0" anchor="ctr"/>
          <a:lstStyle/>
          <a:p>
            <a:pPr marL="0" indent="0">
              <a:lnSpc>
                <a:spcPts val="1300"/>
              </a:lnSpc>
              <a:buNone/>
            </a:pPr>
            <a:r>
              <a:rPr lang="en-US" sz="1050" dirty="0">
                <a:solidFill>
                  <a:srgbClr val="97A3BF"/>
                </a:solidFill>
                <a:latin typeface="Calibri" pitchFamily="34" charset="0"/>
                <a:ea typeface="Calibri" pitchFamily="34" charset="-122"/>
                <a:cs typeface="Calibri" pitchFamily="34" charset="-120"/>
              </a:rPr>
              <a:t>Groq's free tier is ~6,000 tokens per MINUTE — and bare calls take only ~350ms, so any slowness was throttling, not code. Excerpts were being sent twice per turn (generator + evaluator) and again on every retry.</a:t>
            </a:r>
            <a:endParaRPr lang="en-US" sz="1050" dirty="0"/>
          </a:p>
          <a:p>
            <a:pPr marL="0" indent="0">
              <a:lnSpc>
                <a:spcPts val="1300"/>
              </a:lnSpc>
              <a:buNone/>
            </a:pPr>
            <a:endParaRPr lang="en-US" sz="1050" dirty="0"/>
          </a:p>
          <a:p>
            <a:pPr marL="0" indent="0">
              <a:lnSpc>
                <a:spcPts val="1300"/>
              </a:lnSpc>
              <a:buNone/>
            </a:pPr>
            <a:r>
              <a:rPr lang="en-US" sz="1050" dirty="0">
                <a:solidFill>
                  <a:srgbClr val="97A3BF"/>
                </a:solidFill>
                <a:latin typeface="Calibri" pitchFamily="34" charset="0"/>
                <a:ea typeface="Calibri" pitchFamily="34" charset="-122"/>
                <a:cs typeface="Calibri" pitchFamily="34" charset="-120"/>
              </a:rPr>
              <a:t>Trimming per-prompt excerpt caps halved the cost: ~2 questions/minute, and a 429 now backs off and completes instead of failing mid-answer.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1498</Words>
  <Application>Microsoft Macintosh PowerPoint</Application>
  <PresentationFormat>Widescreen</PresentationFormat>
  <Paragraphs>127</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BookRAG — Agentic Grounded RAG</dc:title>
  <dc:subject>PptxGenJS Presentation</dc:subject>
  <dc:creator>Saad Faran</dc:creator>
  <cp:lastModifiedBy>Muhammad Saad Faran Malik</cp:lastModifiedBy>
  <cp:revision>3</cp:revision>
  <dcterms:created xsi:type="dcterms:W3CDTF">2026-07-15T04:01:36Z</dcterms:created>
  <dcterms:modified xsi:type="dcterms:W3CDTF">2026-07-15T05:07:48Z</dcterms:modified>
</cp:coreProperties>
</file>